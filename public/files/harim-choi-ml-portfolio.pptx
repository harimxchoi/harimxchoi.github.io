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ffaa5093d443b" /><Relationship Type="http://schemas.openxmlformats.org/officeDocument/2006/relationships/extended-properties" Target="/docProps/app.xml" Id="Rd99075decbb54a99" /><Relationship Type="http://schemas.openxmlformats.org/officeDocument/2006/relationships/officeDocument" Target="/ppt/presentation.xml" Id="R62052283edbc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2145e7e284481"/>
  </p:sldMasterIdLst>
  <p:notesMasterIdLst>
    <p:notesMasterId xmlns:r="http://schemas.openxmlformats.org/officeDocument/2006/relationships" r:id="R73b163922b9b409b"/>
  </p:notesMasterIdLst>
  <p:sldIdLst>
    <p:sldId xmlns:r="http://schemas.openxmlformats.org/officeDocument/2006/relationships" id="256" r:id="Rdcef2bd6fd0a415b"/>
    <p:sldId xmlns:r="http://schemas.openxmlformats.org/officeDocument/2006/relationships" id="257" r:id="R81991444662f41ad"/>
    <p:sldId xmlns:r="http://schemas.openxmlformats.org/officeDocument/2006/relationships" id="258" r:id="R777b0eefce83441c"/>
    <p:sldId xmlns:r="http://schemas.openxmlformats.org/officeDocument/2006/relationships" id="259" r:id="Rb2bd5f21bb1a49d2"/>
    <p:sldId xmlns:r="http://schemas.openxmlformats.org/officeDocument/2006/relationships" id="260" r:id="R95b2f5ac0eaa4d4f"/>
    <p:sldId xmlns:r="http://schemas.openxmlformats.org/officeDocument/2006/relationships" id="261" r:id="R4ce3b3e43e5749af"/>
    <p:sldId xmlns:r="http://schemas.openxmlformats.org/officeDocument/2006/relationships" id="262" r:id="Ra933a0319b6c4246"/>
    <p:sldId xmlns:r="http://schemas.openxmlformats.org/officeDocument/2006/relationships" id="263" r:id="R7f398e6ebda14453"/>
    <p:sldId xmlns:r="http://schemas.openxmlformats.org/officeDocument/2006/relationships" id="264" r:id="R4093fb8f01294529"/>
    <p:sldId xmlns:r="http://schemas.openxmlformats.org/officeDocument/2006/relationships" id="265" r:id="Ra1c5b849ca4c469a"/>
    <p:sldId xmlns:r="http://schemas.openxmlformats.org/officeDocument/2006/relationships" id="266" r:id="Readb61f7104e4f0e"/>
    <p:sldId xmlns:r="http://schemas.openxmlformats.org/officeDocument/2006/relationships" id="267" r:id="Rc07c88b13b7d49dd"/>
    <p:sldId xmlns:r="http://schemas.openxmlformats.org/officeDocument/2006/relationships" id="268" r:id="R6eae1112c1194e40"/>
    <p:sldId xmlns:r="http://schemas.openxmlformats.org/officeDocument/2006/relationships" id="269" r:id="R246027818ae94b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f7f7b74824ddb" /><Relationship Type="http://schemas.openxmlformats.org/officeDocument/2006/relationships/slideMaster" Target="/ppt/slideMasters/slideMaster1.xml" Id="R4d22145e7e284481" /><Relationship Type="http://schemas.openxmlformats.org/officeDocument/2006/relationships/notesMaster" Target="/ppt/notesMasters/notesMaster1.xml" Id="R73b163922b9b409b" /><Relationship Type="http://schemas.openxmlformats.org/officeDocument/2006/relationships/presProps" Target="/ppt/presProps.xml" Id="R3e5ff30beae8461d" /><Relationship Type="http://schemas.openxmlformats.org/officeDocument/2006/relationships/tableStyles" Target="/ppt/tableStyles.xml" Id="Rde1d9b6a5301488d" /><Relationship Type="http://schemas.openxmlformats.org/officeDocument/2006/relationships/slide" Target="/ppt/slides/slide1.xml" Id="Rdcef2bd6fd0a415b" /><Relationship Type="http://schemas.openxmlformats.org/officeDocument/2006/relationships/slide" Target="/ppt/slides/slide2.xml" Id="R81991444662f41ad" /><Relationship Type="http://schemas.openxmlformats.org/officeDocument/2006/relationships/slide" Target="/ppt/slides/slide3.xml" Id="R777b0eefce83441c" /><Relationship Type="http://schemas.openxmlformats.org/officeDocument/2006/relationships/slide" Target="/ppt/slides/slide4.xml" Id="Rb2bd5f21bb1a49d2" /><Relationship Type="http://schemas.openxmlformats.org/officeDocument/2006/relationships/slide" Target="/ppt/slides/slide5.xml" Id="R95b2f5ac0eaa4d4f" /><Relationship Type="http://schemas.openxmlformats.org/officeDocument/2006/relationships/slide" Target="/ppt/slides/slide6.xml" Id="R4ce3b3e43e5749af" /><Relationship Type="http://schemas.openxmlformats.org/officeDocument/2006/relationships/slide" Target="/ppt/slides/slide7.xml" Id="Ra933a0319b6c4246" /><Relationship Type="http://schemas.openxmlformats.org/officeDocument/2006/relationships/slide" Target="/ppt/slides/slide8.xml" Id="R7f398e6ebda14453" /><Relationship Type="http://schemas.openxmlformats.org/officeDocument/2006/relationships/slide" Target="/ppt/slides/slide9.xml" Id="R4093fb8f01294529" /><Relationship Type="http://schemas.openxmlformats.org/officeDocument/2006/relationships/slide" Target="/ppt/slides/slide10.xml" Id="Ra1c5b849ca4c469a" /><Relationship Type="http://schemas.openxmlformats.org/officeDocument/2006/relationships/slide" Target="/ppt/slides/slide11.xml" Id="Readb61f7104e4f0e" /><Relationship Type="http://schemas.openxmlformats.org/officeDocument/2006/relationships/slide" Target="/ppt/slides/slide12.xml" Id="Rc07c88b13b7d49dd" /><Relationship Type="http://schemas.openxmlformats.org/officeDocument/2006/relationships/slide" Target="/ppt/slides/slide13.xml" Id="R6eae1112c1194e40" /><Relationship Type="http://schemas.openxmlformats.org/officeDocument/2006/relationships/slide" Target="/ppt/slides/slide14.xml" Id="R246027818ae94b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e49e6c345b41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5644495b748f2" /><Relationship Type="http://schemas.openxmlformats.org/officeDocument/2006/relationships/notesMaster" Target="/ppt/notesMasters/notesMaster1.xml" Id="Re2344fec63654e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3c08143edc4f03" /><Relationship Type="http://schemas.openxmlformats.org/officeDocument/2006/relationships/notesMaster" Target="/ppt/notesMasters/notesMaster1.xml" Id="Rb38f8c65394547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3331ff891e4a03" /><Relationship Type="http://schemas.openxmlformats.org/officeDocument/2006/relationships/notesMaster" Target="/ppt/notesMasters/notesMaster1.xml" Id="R07441edadadc4b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c1d7019754f2a" /><Relationship Type="http://schemas.openxmlformats.org/officeDocument/2006/relationships/notesMaster" Target="/ppt/notesMasters/notesMaster1.xml" Id="Rff8981cf77b1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87e6a3ff704436" /><Relationship Type="http://schemas.openxmlformats.org/officeDocument/2006/relationships/notesMaster" Target="/ppt/notesMasters/notesMaster1.xml" Id="R0f88973be6f243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d63a96978f41cc" /><Relationship Type="http://schemas.openxmlformats.org/officeDocument/2006/relationships/notesMaster" Target="/ppt/notesMasters/notesMaster1.xml" Id="Rb69baa3336d94d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24bf8577e44cb8" /><Relationship Type="http://schemas.openxmlformats.org/officeDocument/2006/relationships/notesMaster" Target="/ppt/notesMasters/notesMaster1.xml" Id="R1ce1c8d162fd4d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0b46007b93451b" /><Relationship Type="http://schemas.openxmlformats.org/officeDocument/2006/relationships/notesMaster" Target="/ppt/notesMasters/notesMaster1.xml" Id="Rc769e439fe6247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0c488656424a11" /><Relationship Type="http://schemas.openxmlformats.org/officeDocument/2006/relationships/notesMaster" Target="/ppt/notesMasters/notesMaster1.xml" Id="R4c53b1a8d77640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9cdad894c547e2" /><Relationship Type="http://schemas.openxmlformats.org/officeDocument/2006/relationships/notesMaster" Target="/ppt/notesMasters/notesMaster1.xml" Id="R8183d5802ef141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14367954704ce6" /><Relationship Type="http://schemas.openxmlformats.org/officeDocument/2006/relationships/notesMaster" Target="/ppt/notesMasters/notesMaster1.xml" Id="R3225b58f615042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73c3a4426244f3" /><Relationship Type="http://schemas.openxmlformats.org/officeDocument/2006/relationships/notesMaster" Target="/ppt/notesMasters/notesMaster1.xml" Id="R7537e21512be4d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0f418584484192" /><Relationship Type="http://schemas.openxmlformats.org/officeDocument/2006/relationships/notesMaster" Target="/ppt/notesMasters/notesMaster1.xml" Id="R0d249761289543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b1e94ee55942f7" /><Relationship Type="http://schemas.openxmlformats.org/officeDocument/2006/relationships/notesMaster" Target="/ppt/notesMasters/notesMaster1.xml" Id="R44afc4661b92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current v2 positioning and contact</a:t>
            </a:r>
          </a:p>
          <a:p xmlns:a="http://schemas.openxmlformats.org/drawingml/2006/main">
            <a:r>
              <a:t>- C:\Users\user\resume\_sources\HarimxChoi.github.io\src\data\portfolio.ts — public-site positioning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summary and selected outcomes</a:t>
            </a:r>
          </a:p>
          <a:p xmlns:a="http://schemas.openxmlformats.org/drawingml/2006/main">
            <a:r>
              <a:t>- C:\Users\user\resume\_sources\HarimxChoi.github.io\src\data\portfolio.ts — hero signals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summary and core skills</a:t>
            </a:r>
          </a:p>
          <a:p xmlns:a="http://schemas.openxmlformats.org/drawingml/2006/main">
            <a:r>
              <a:t>- C:\Users\user\resume\_sources\HarimxChoi.github.io\src\data\portfolio.ts — approach section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career section</a:t>
            </a:r>
          </a:p>
          <a:p xmlns:a="http://schemas.openxmlformats.org/drawingml/2006/main">
            <a:r>
              <a:t>- C:\Users\user\resume\_sources\HarimxChoi.github.io\src\data\portfolio.ts — four-role career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Sejong role, architecture, and metrics</a:t>
            </a:r>
          </a:p>
          <a:p xmlns:a="http://schemas.openxmlformats.org/drawingml/2006/main">
            <a:r>
              <a:t>- C:\Users\user\resume\_sources\HarimxChoi.github.io\src\data\portfolio.ts — English Sejong wording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Hanmac NLP, R2CCP, and RAG work</a:t>
            </a:r>
          </a:p>
          <a:p xmlns:a="http://schemas.openxmlformats.org/drawingml/2006/main">
            <a:r>
              <a:t>- C:\Users\user\resume\_sources\HarimxChoi.github.io\src\data\portfolio.ts — English Hanmac wording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google-surf-mcp and Monogram claims</a:t>
            </a:r>
          </a:p>
          <a:p xmlns:a="http://schemas.openxmlformats.org/drawingml/2006/main">
            <a:r>
              <a:t>- C:\Users\user\resume\_sources\HarimxChoi.github.io\src\data\portfolio.ts — Group A project grouping</a:t>
            </a:r>
          </a:p>
          <a:p xmlns:a="http://schemas.openxmlformats.org/drawingml/2006/main">
            <a:r>
              <a:t>- C:\Users\user\resume\_work\portfolio_deck\gif_frames\frame-07.png — representative frame extracted from public demo.gif</a:t>
            </a:r>
          </a:p>
          <a:p xmlns:a="http://schemas.openxmlformats.org/drawingml/2006/main">
            <a:r>
              <a:t>- C:\Users\user\mono-patched\docs\images\dashboard.png — public Monogram 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Bau Browser and Travel Agent claims</a:t>
            </a:r>
          </a:p>
          <a:p xmlns:a="http://schemas.openxmlformats.org/drawingml/2006/main">
            <a:r>
              <a:t>- C:\Users\user\resume\_sources\HarimxChoi.github.io\src\data\portfolio.ts — Group A project grouping</a:t>
            </a:r>
          </a:p>
          <a:p xmlns:a="http://schemas.openxmlformats.org/drawingml/2006/main">
            <a:r>
              <a:t>- C:\Users\user\baubrowser\docs\ui-implementation\screenshots\desktop-research-table.png — Bau Browser screenshot; synthetic fixture caption required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Vargo and EMH Agent claims</a:t>
            </a:r>
          </a:p>
          <a:p xmlns:a="http://schemas.openxmlformats.org/drawingml/2006/main">
            <a:r>
              <a:t>- C:\Users\user\resume\_sources\HarimxChoi.github.io\src\data\portfolio.ts — Group B project grouping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WSSS method and full-denominator result</a:t>
            </a:r>
          </a:p>
          <a:p xmlns:a="http://schemas.openxmlformats.org/drawingml/2006/main">
            <a:r>
              <a:t>- C:\Users\user\resume\_sources\HarimxChoi.github.io\src\data\portfolio.ts — Group C project grouping</a:t>
            </a:r>
          </a:p>
          <a:p xmlns:a="http://schemas.openxmlformats.org/drawingml/2006/main">
            <a:r>
              <a:t>- C:\Users\user\resume\_sources\HarimxChoi.github.io\public\img\wsss-architecture.png — public WSSS architecture figure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MyShot and EAT methods and metrics</a:t>
            </a:r>
          </a:p>
          <a:p xmlns:a="http://schemas.openxmlformats.org/drawingml/2006/main">
            <a:r>
              <a:t>- C:\Users\user\resume\_sources\HarimxChoi.github.io\src\data\portfolio.ts — Group C project grouping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core skills taxonomy</a:t>
            </a:r>
          </a:p>
          <a:p xmlns:a="http://schemas.openxmlformats.org/drawingml/2006/main">
            <a:r>
              <a:t>- C:\Users\user\resume\_sources\HarimxChoi.github.io\src\data\portfolio.ts — skills organized by decision path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summary, career, and skills</a:t>
            </a:r>
          </a:p>
          <a:p xmlns:a="http://schemas.openxmlformats.org/drawingml/2006/main">
            <a:r>
              <a:t>- C:\Users\user\resume\_sources\HarimxChoi.github.io\src\data\portfolio.ts — public positioning and approach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C:\Users\user\resume\resume\v2\harim_choi_resume.docx — current v2 contact details</a:t>
            </a:r>
          </a:p>
          <a:p xmlns:a="http://schemas.openxmlformats.org/drawingml/2006/main">
            <a:r>
              <a:t>- C:\Users\user\resume\_sources\HarimxChoi.github.io\src\data\portfolio.ts — public contact links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84dc7e0f5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c125356a34dc1" /><Relationship Type="http://schemas.openxmlformats.org/officeDocument/2006/relationships/slideLayout" Target="/ppt/slideLayouts/slideLayout1.xml" Id="R1ffe3ecce3ad4a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e3ecce3ad4a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a3c59dc914896" /><Relationship Type="http://schemas.openxmlformats.org/officeDocument/2006/relationships/notesSlide" Target="/ppt/notesSlides/notesSlide1.xml" Id="Re8c272255b44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9f986ab854681" /><Relationship Type="http://schemas.openxmlformats.org/officeDocument/2006/relationships/notesSlide" Target="/ppt/notesSlides/notesSlide2.xml" Id="Rbdd90e0af4a4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3deedbf8f43f1" /><Relationship Type="http://schemas.openxmlformats.org/officeDocument/2006/relationships/notesSlide" Target="/ppt/notesSlides/notesSlide3.xml" Id="R0b2ceae809db41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5b75b7bb14822" /><Relationship Type="http://schemas.openxmlformats.org/officeDocument/2006/relationships/notesSlide" Target="/ppt/notesSlides/notesSlide4.xml" Id="R297b90b634c2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3384a53254d1c" /><Relationship Type="http://schemas.openxmlformats.org/officeDocument/2006/relationships/notesSlide" Target="/ppt/notesSlides/notesSlide5.xml" Id="R0690924a5ee543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7ea517d314e14" /><Relationship Type="http://schemas.openxmlformats.org/officeDocument/2006/relationships/notesSlide" Target="/ppt/notesSlides/notesSlide6.xml" Id="Rb28014e3a02540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13dcaf16d43d2" /><Relationship Type="http://schemas.openxmlformats.org/officeDocument/2006/relationships/image" Target="/ppt/media/image.png" Id="R15259c44de2f4d9c" /><Relationship Type="http://schemas.openxmlformats.org/officeDocument/2006/relationships/image" Target="/ppt/media/image2.png" Id="R1fe6c863736d4c7d" /><Relationship Type="http://schemas.openxmlformats.org/officeDocument/2006/relationships/notesSlide" Target="/ppt/notesSlides/notesSlide7.xml" Id="R7cf8956c070744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6279d34f04a04" /><Relationship Type="http://schemas.openxmlformats.org/officeDocument/2006/relationships/image" Target="/ppt/media/image3.png" Id="R5ad7a5bd2e214bd4" /><Relationship Type="http://schemas.openxmlformats.org/officeDocument/2006/relationships/notesSlide" Target="/ppt/notesSlides/notesSlide8.xml" Id="R700565bbd13a48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0a5763b454f1b" /><Relationship Type="http://schemas.openxmlformats.org/officeDocument/2006/relationships/notesSlide" Target="/ppt/notesSlides/notesSlide9.xml" Id="Rb062b5b565e046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99fe6d5624773" /><Relationship Type="http://schemas.openxmlformats.org/officeDocument/2006/relationships/image" Target="/ppt/media/image4.png" Id="R16583ed2354f480e" /><Relationship Type="http://schemas.openxmlformats.org/officeDocument/2006/relationships/notesSlide" Target="/ppt/notesSlides/notesSlide10.xml" Id="R44b7e6cf617a42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dbc3caff844b7" /><Relationship Type="http://schemas.openxmlformats.org/officeDocument/2006/relationships/notesSlide" Target="/ppt/notesSlides/notesSlide11.xml" Id="Rb2f9644c84234c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06f7f459540c9" /><Relationship Type="http://schemas.openxmlformats.org/officeDocument/2006/relationships/notesSlide" Target="/ppt/notesSlides/notesSlide12.xml" Id="R00b722fe660449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92da8b4e14f6b" /><Relationship Type="http://schemas.openxmlformats.org/officeDocument/2006/relationships/notesSlide" Target="/ppt/notesSlides/notesSlide13.xml" Id="R0a95f5e00b7843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f3e0784dd4e87" /><Relationship Type="http://schemas.openxmlformats.org/officeDocument/2006/relationships/notesSlide" Target="/ppt/notesSlides/notesSlide14.xml" Id="R158ddde1ab5941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7856139-0555-4B7D-A318-D698409D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APPLIED MACHINE LEARNING ENGINEER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2AD7D8C-5F06-4223-BBF4-5DC5456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0525"/>
            <a:ext cx="2124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3A09B6-1F2E-457A-B71D-D01BC798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Reliable decision systems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incomplete data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uncertain models.</a:t>
            </a:r>
          </a:p>
        </p:txBody>
      </p:sp>
      <p:sp>
        <p:nvSpPr>
          <p:cNvPr id="4" name="cover-name">
            <a:extLst xmlns:a="http://schemas.openxmlformats.org/drawingml/2006/main">
              <a:ext uri="{FF2B5EF4-FFF2-40B4-BE49-F238E27FC236}">
                <a16:creationId xmlns:a16="http://schemas.microsoft.com/office/drawing/2014/main" id="{A12B91D5-1185-4D5F-B7AB-5FCC7DE1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Harim Choi</a:t>
            </a:r>
          </a:p>
        </p:txBody>
      </p:sp>
      <p:sp>
        <p:nvSpPr>
          <p:cNvPr id="5" name="cover-contact">
            <a:extLst xmlns:a="http://schemas.openxmlformats.org/drawingml/2006/main">
              <a:ext uri="{FF2B5EF4-FFF2-40B4-BE49-F238E27FC236}">
                <a16:creationId xmlns:a16="http://schemas.microsoft.com/office/drawing/2014/main" id="{2C397CBB-A2C7-4125-9B07-1AF357CA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Seoul · 2.harim.choi@gmail.com · harimxchoi.github.io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56715D8-31B0-43FB-95F0-B7CBF669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43625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ML SYSTEMS PORTFOLIO</a:t>
            </a:r>
          </a:p>
        </p:txBody>
      </p:sp>
    </p:spTree>
    <p:extLst>
      <p:ext uri="{BB962C8B-B14F-4D97-AF65-F5344CB8AC3E}">
        <p14:creationId xmlns:p14="http://schemas.microsoft.com/office/powerpoint/2010/main" val="52520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AA231546-5727-41AF-93DB-FF992E77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HARIM CHOI | APPLIED ML SYSTEMS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2D091E1-3980-4393-A95A-DAF3E3EE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is one link in the decision path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89BB4E28-0E6B-4DAB-A637-18695AB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CC9493E-2219-40E5-BD13-EFB5B26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ositioning-claim">
            <a:extLst xmlns:a="http://schemas.openxmlformats.org/drawingml/2006/main">
              <a:ext uri="{FF2B5EF4-FFF2-40B4-BE49-F238E27FC236}">
                <a16:creationId xmlns:a16="http://schemas.microsoft.com/office/drawing/2014/main" id="{CD7EDD11-91AE-417F-8B53-D8AB41F7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38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 look for failure modes hidden behind headline metrics, then redesign evaluation and the system around them.</a:t>
            </a:r>
          </a:p>
        </p:txBody>
      </p:sp>
      <p:sp>
        <p:nvSpPr>
          <p:cNvPr id="6" name="position-stat-0">
            <a:extLst xmlns:a="http://schemas.openxmlformats.org/drawingml/2006/main">
              <a:ext uri="{FF2B5EF4-FFF2-40B4-BE49-F238E27FC236}">
                <a16:creationId xmlns:a16="http://schemas.microsoft.com/office/drawing/2014/main" id="{59B41070-82EC-4274-A81E-5F2F8C52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7+ years</a:t>
            </a:r>
          </a:p>
        </p:txBody>
      </p:sp>
      <p:sp>
        <p:nvSpPr>
          <p:cNvPr id="7" name="position-copy-0">
            <a:extLst xmlns:a="http://schemas.openxmlformats.org/drawingml/2006/main">
              <a:ext uri="{FF2B5EF4-FFF2-40B4-BE49-F238E27FC236}">
                <a16:creationId xmlns:a16="http://schemas.microsoft.com/office/drawing/2014/main" id="{CDB1AA12-9794-409B-8D40-DA5044F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Applied ML across production and research</a:t>
            </a:r>
          </a:p>
        </p:txBody>
      </p:sp>
      <p:sp>
        <p:nvSpPr>
          <p:cNvPr id="8" name="metric-sep-1">
            <a:extLst xmlns:a="http://schemas.openxmlformats.org/drawingml/2006/main">
              <a:ext uri="{FF2B5EF4-FFF2-40B4-BE49-F238E27FC236}">
                <a16:creationId xmlns:a16="http://schemas.microsoft.com/office/drawing/2014/main" id="{1847E247-E02F-491A-8F20-54C80447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040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osition-stat-1">
            <a:extLst xmlns:a="http://schemas.openxmlformats.org/drawingml/2006/main">
              <a:ext uri="{FF2B5EF4-FFF2-40B4-BE49-F238E27FC236}">
                <a16:creationId xmlns:a16="http://schemas.microsoft.com/office/drawing/2014/main" id="{EB8F4F1F-50D7-4C38-A004-9605311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+35%</a:t>
            </a:r>
          </a:p>
        </p:txBody>
      </p:sp>
      <p:sp>
        <p:nvSpPr>
          <p:cNvPr id="10" name="position-copy-1">
            <a:extLst xmlns:a="http://schemas.openxmlformats.org/drawingml/2006/main">
              <a:ext uri="{FF2B5EF4-FFF2-40B4-BE49-F238E27FC236}">
                <a16:creationId xmlns:a16="http://schemas.microsoft.com/office/drawing/2014/main" id="{D915032D-AB96-4438-A856-9B1C3678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Internal relative bid-win KPI improvement</a:t>
            </a:r>
          </a:p>
        </p:txBody>
      </p:sp>
      <p:sp>
        <p:nvSpPr>
          <p:cNvPr id="11" name="metric-sep-2">
            <a:extLst xmlns:a="http://schemas.openxmlformats.org/drawingml/2006/main">
              <a:ext uri="{FF2B5EF4-FFF2-40B4-BE49-F238E27FC236}">
                <a16:creationId xmlns:a16="http://schemas.microsoft.com/office/drawing/2014/main" id="{67974043-B14E-4449-B985-3645D6E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0040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osition-stat-2">
            <a:extLst xmlns:a="http://schemas.openxmlformats.org/drawingml/2006/main">
              <a:ext uri="{FF2B5EF4-FFF2-40B4-BE49-F238E27FC236}">
                <a16:creationId xmlns:a16="http://schemas.microsoft.com/office/drawing/2014/main" id="{5591E682-63DE-482C-87B7-9CA6672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5.4×</a:t>
            </a:r>
          </a:p>
        </p:txBody>
      </p:sp>
      <p:sp>
        <p:nvSpPr>
          <p:cNvPr id="13" name="position-copy-2">
            <a:extLst xmlns:a="http://schemas.openxmlformats.org/drawingml/2006/main">
              <a:ext uri="{FF2B5EF4-FFF2-40B4-BE49-F238E27FC236}">
                <a16:creationId xmlns:a16="http://schemas.microsoft.com/office/drawing/2014/main" id="{72397E26-23F4-49C0-AC46-FC1F7593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Inference path speedup · 136 s → 25 s</a:t>
            </a:r>
          </a:p>
        </p:txBody>
      </p:sp>
      <p:sp>
        <p:nvSpPr>
          <p:cNvPr id="14" name="metric-sep-3">
            <a:extLst xmlns:a="http://schemas.openxmlformats.org/drawingml/2006/main">
              <a:ext uri="{FF2B5EF4-FFF2-40B4-BE49-F238E27FC236}">
                <a16:creationId xmlns:a16="http://schemas.microsoft.com/office/drawing/2014/main" id="{E6B93B00-B243-4DFA-9217-53D1215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position-stat-3">
            <a:extLst xmlns:a="http://schemas.openxmlformats.org/drawingml/2006/main">
              <a:ext uri="{FF2B5EF4-FFF2-40B4-BE49-F238E27FC236}">
                <a16:creationId xmlns:a16="http://schemas.microsoft.com/office/drawing/2014/main" id="{195AD77E-4F3D-4BD7-9229-0CBBF4FB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Top 1%</a:t>
            </a:r>
          </a:p>
        </p:txBody>
      </p:sp>
      <p:sp>
        <p:nvSpPr>
          <p:cNvPr id="16" name="position-copy-3">
            <a:extLst xmlns:a="http://schemas.openxmlformats.org/drawingml/2006/main">
              <a:ext uri="{FF2B5EF4-FFF2-40B4-BE49-F238E27FC236}">
                <a16:creationId xmlns:a16="http://schemas.microsoft.com/office/drawing/2014/main" id="{6763884C-2F41-4E3B-BB0A-F7599D3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google-surf-mcp on MCP TOPLIST</a:t>
            </a:r>
          </a:p>
        </p:txBody>
      </p:sp>
    </p:spTree>
    <p:extLst>
      <p:ext uri="{BB962C8B-B14F-4D97-AF65-F5344CB8AC3E}">
        <p14:creationId xmlns:p14="http://schemas.microsoft.com/office/powerpoint/2010/main" val="1309872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25BC88A0-E4E0-4467-9E60-351118C5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HARIM CHOI | APPLIED ML SYSTEMS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D44F721-6C98-4F5C-B40D-A0A295F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operating pattern repeats across domains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573CE3C1-1F72-4376-95F6-DE0D439E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870BB555-87F3-4A77-BBA0-913520B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pattern-rail">
            <a:extLst xmlns:a="http://schemas.openxmlformats.org/drawingml/2006/main">
              <a:ext uri="{FF2B5EF4-FFF2-40B4-BE49-F238E27FC236}">
                <a16:creationId xmlns:a16="http://schemas.microsoft.com/office/drawing/2014/main" id="{B12682AD-DD0C-4689-AA05-7AB7ADE3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" name="pattern-dot-0">
            <a:extLst xmlns:a="http://schemas.openxmlformats.org/drawingml/2006/main">
              <a:ext uri="{FF2B5EF4-FFF2-40B4-BE49-F238E27FC236}">
                <a16:creationId xmlns:a16="http://schemas.microsoft.com/office/drawing/2014/main" id="{33F36E5D-0044-42AE-AED3-AF2A8B99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attern-num-0">
            <a:extLst xmlns:a="http://schemas.openxmlformats.org/drawingml/2006/main">
              <a:ext uri="{FF2B5EF4-FFF2-40B4-BE49-F238E27FC236}">
                <a16:creationId xmlns:a16="http://schemas.microsoft.com/office/drawing/2014/main" id="{FB500256-7498-49C1-8EA6-E88C5694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attern-head-0">
            <a:extLst xmlns:a="http://schemas.openxmlformats.org/drawingml/2006/main">
              <a:ext uri="{FF2B5EF4-FFF2-40B4-BE49-F238E27FC236}">
                <a16:creationId xmlns:a16="http://schemas.microsoft.com/office/drawing/2014/main" id="{460B6C41-5510-4E07-AE1E-1A555150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Expose failure</a:t>
            </a:r>
          </a:p>
        </p:txBody>
      </p:sp>
      <p:sp>
        <p:nvSpPr>
          <p:cNvPr id="9" name="pattern-body-0">
            <a:extLst xmlns:a="http://schemas.openxmlformats.org/drawingml/2006/main">
              <a:ext uri="{FF2B5EF4-FFF2-40B4-BE49-F238E27FC236}">
                <a16:creationId xmlns:a16="http://schemas.microsoft.com/office/drawing/2014/main" id="{C49CE55F-B601-46A0-9211-1E224F2B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Leakage, domain gaps, collapse, identifiability limits</a:t>
            </a:r>
          </a:p>
        </p:txBody>
      </p:sp>
      <p:sp>
        <p:nvSpPr>
          <p:cNvPr id="10" name="pattern-dot-1">
            <a:extLst xmlns:a="http://schemas.openxmlformats.org/drawingml/2006/main">
              <a:ext uri="{FF2B5EF4-FFF2-40B4-BE49-F238E27FC236}">
                <a16:creationId xmlns:a16="http://schemas.microsoft.com/office/drawing/2014/main" id="{C63AC0F2-836D-4E18-9CDB-CFD5E81D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pattern-num-1">
            <a:extLst xmlns:a="http://schemas.openxmlformats.org/drawingml/2006/main">
              <a:ext uri="{FF2B5EF4-FFF2-40B4-BE49-F238E27FC236}">
                <a16:creationId xmlns:a16="http://schemas.microsoft.com/office/drawing/2014/main" id="{E1890CA6-5A5B-460B-8C7C-2B835622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62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pattern-head-1">
            <a:extLst xmlns:a="http://schemas.openxmlformats.org/drawingml/2006/main">
              <a:ext uri="{FF2B5EF4-FFF2-40B4-BE49-F238E27FC236}">
                <a16:creationId xmlns:a16="http://schemas.microsoft.com/office/drawing/2014/main" id="{08B97505-802E-4672-B8B5-FC69B92A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86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Quantify trust</a:t>
            </a:r>
          </a:p>
        </p:txBody>
      </p:sp>
      <p:sp>
        <p:nvSpPr>
          <p:cNvPr id="13" name="pattern-body-1">
            <a:extLst xmlns:a="http://schemas.openxmlformats.org/drawingml/2006/main">
              <a:ext uri="{FF2B5EF4-FFF2-40B4-BE49-F238E27FC236}">
                <a16:creationId xmlns:a16="http://schemas.microsoft.com/office/drawing/2014/main" id="{B8BDAB8B-A42D-4F70-ACCE-C26EB971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433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Calibration, conformal prediction, CRPS, ablation</a:t>
            </a:r>
          </a:p>
        </p:txBody>
      </p:sp>
      <p:sp>
        <p:nvSpPr>
          <p:cNvPr id="14" name="pattern-dot-2">
            <a:extLst xmlns:a="http://schemas.openxmlformats.org/drawingml/2006/main">
              <a:ext uri="{FF2B5EF4-FFF2-40B4-BE49-F238E27FC236}">
                <a16:creationId xmlns:a16="http://schemas.microsoft.com/office/drawing/2014/main" id="{CE267A89-C7EC-44E0-A672-7FF4036E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pattern-num-2">
            <a:extLst xmlns:a="http://schemas.openxmlformats.org/drawingml/2006/main">
              <a:ext uri="{FF2B5EF4-FFF2-40B4-BE49-F238E27FC236}">
                <a16:creationId xmlns:a16="http://schemas.microsoft.com/office/drawing/2014/main" id="{D5A7FEF4-929D-47AF-BF4E-E2210902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attern-head-2">
            <a:extLst xmlns:a="http://schemas.openxmlformats.org/drawingml/2006/main">
              <a:ext uri="{FF2B5EF4-FFF2-40B4-BE49-F238E27FC236}">
                <a16:creationId xmlns:a16="http://schemas.microsoft.com/office/drawing/2014/main" id="{7D141285-4A3A-41E1-BDB2-7989C17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Connect action</a:t>
            </a:r>
          </a:p>
        </p:txBody>
      </p:sp>
      <p:sp>
        <p:nvSpPr>
          <p:cNvPr id="17" name="pattern-body-2">
            <a:extLst xmlns:a="http://schemas.openxmlformats.org/drawingml/2006/main">
              <a:ext uri="{FF2B5EF4-FFF2-40B4-BE49-F238E27FC236}">
                <a16:creationId xmlns:a16="http://schemas.microsoft.com/office/drawing/2014/main" id="{0F6061E1-DD05-41C7-A38E-416DDC88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Retrieval, simulation, policy gates, human approval</a:t>
            </a:r>
          </a:p>
        </p:txBody>
      </p:sp>
      <p:sp>
        <p:nvSpPr>
          <p:cNvPr id="18" name="pattern-dot-3">
            <a:extLst xmlns:a="http://schemas.openxmlformats.org/drawingml/2006/main">
              <a:ext uri="{FF2B5EF4-FFF2-40B4-BE49-F238E27FC236}">
                <a16:creationId xmlns:a16="http://schemas.microsoft.com/office/drawing/2014/main" id="{67B49B7D-A4DB-464C-BD93-228FD6E0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pattern-num-3">
            <a:extLst xmlns:a="http://schemas.openxmlformats.org/drawingml/2006/main">
              <a:ext uri="{FF2B5EF4-FFF2-40B4-BE49-F238E27FC236}">
                <a16:creationId xmlns:a16="http://schemas.microsoft.com/office/drawing/2014/main" id="{6B614059-8D4B-4631-B65A-D37034C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62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pattern-head-3">
            <a:extLst xmlns:a="http://schemas.openxmlformats.org/drawingml/2006/main">
              <a:ext uri="{FF2B5EF4-FFF2-40B4-BE49-F238E27FC236}">
                <a16:creationId xmlns:a16="http://schemas.microsoft.com/office/drawing/2014/main" id="{1F49B48B-9F58-4CB2-97C8-164CA1D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86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Operate and learn</a:t>
            </a:r>
          </a:p>
        </p:txBody>
      </p:sp>
      <p:sp>
        <p:nvSpPr>
          <p:cNvPr id="21" name="pattern-body-3">
            <a:extLst xmlns:a="http://schemas.openxmlformats.org/drawingml/2006/main">
              <a:ext uri="{FF2B5EF4-FFF2-40B4-BE49-F238E27FC236}">
                <a16:creationId xmlns:a16="http://schemas.microsoft.com/office/drawing/2014/main" id="{EB32D116-2C84-4D92-AC7D-E85AF02B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433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APIs, batch orchestration, checkpoints, provenance</a:t>
            </a:r>
          </a:p>
        </p:txBody>
      </p:sp>
      <p:sp>
        <p:nvSpPr>
          <p:cNvPr id="22" name="pattern-close">
            <a:extLst xmlns:a="http://schemas.openxmlformats.org/drawingml/2006/main">
              <a:ext uri="{FF2B5EF4-FFF2-40B4-BE49-F238E27FC236}">
                <a16:creationId xmlns:a16="http://schemas.microsoft.com/office/drawing/2014/main" id="{7FEEC88F-826A-457B-93F5-A54054C9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91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domain changes; the decision boundary stays explicit.</a:t>
            </a:r>
          </a:p>
        </p:txBody>
      </p:sp>
    </p:spTree>
    <p:extLst>
      <p:ext uri="{BB962C8B-B14F-4D97-AF65-F5344CB8AC3E}">
        <p14:creationId xmlns:p14="http://schemas.microsoft.com/office/powerpoint/2010/main" val="520100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4">
            <a:extLst xmlns:a="http://schemas.openxmlformats.org/drawingml/2006/main">
              <a:ext uri="{FF2B5EF4-FFF2-40B4-BE49-F238E27FC236}">
                <a16:creationId xmlns:a16="http://schemas.microsoft.com/office/drawing/2014/main" id="{45756605-1289-474B-98FB-C6FF09C5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HARIM CHOI | APPLIED ML SYSTEMS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086DC8-B8F8-4E00-AE13-D37266C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 roles, one expanding ownership boundary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B882C07C-7330-4F5F-94BA-FDBC32F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3CD9182-1489-4E1A-940A-BC1E2F0C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career-rail">
            <a:extLst xmlns:a="http://schemas.openxmlformats.org/drawingml/2006/main">
              <a:ext uri="{FF2B5EF4-FFF2-40B4-BE49-F238E27FC236}">
                <a16:creationId xmlns:a16="http://schemas.microsoft.com/office/drawing/2014/main" id="{9FCD4C12-84F7-41AA-9A9D-65CE98B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" name="career-dot-0">
            <a:extLst xmlns:a="http://schemas.openxmlformats.org/drawingml/2006/main">
              <a:ext uri="{FF2B5EF4-FFF2-40B4-BE49-F238E27FC236}">
                <a16:creationId xmlns:a16="http://schemas.microsoft.com/office/drawing/2014/main" id="{B9F43BC3-4457-4CAB-8CF8-1CDDCFA4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career-period-0">
            <a:extLst xmlns:a="http://schemas.openxmlformats.org/drawingml/2006/main">
              <a:ext uri="{FF2B5EF4-FFF2-40B4-BE49-F238E27FC236}">
                <a16:creationId xmlns:a16="http://schemas.microsoft.com/office/drawing/2014/main" id="{1C1B60B7-FAFA-4B34-A756-04B75D67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2019.08–2020.10</a:t>
            </a:r>
          </a:p>
        </p:txBody>
      </p:sp>
      <p:sp>
        <p:nvSpPr>
          <p:cNvPr id="8" name="career-company-0">
            <a:extLst xmlns:a="http://schemas.openxmlformats.org/drawingml/2006/main">
              <a:ext uri="{FF2B5EF4-FFF2-40B4-BE49-F238E27FC236}">
                <a16:creationId xmlns:a16="http://schemas.microsoft.com/office/drawing/2014/main" id="{139ADDC6-891B-414C-BFF5-7CD5B12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Nielsen Korea GTC</a:t>
            </a:r>
          </a:p>
        </p:txBody>
      </p:sp>
      <p:sp>
        <p:nvSpPr>
          <p:cNvPr id="9" name="career-role-0">
            <a:extLst xmlns:a="http://schemas.openxmlformats.org/drawingml/2006/main">
              <a:ext uri="{FF2B5EF4-FFF2-40B4-BE49-F238E27FC236}">
                <a16:creationId xmlns:a16="http://schemas.microsoft.com/office/drawing/2014/main" id="{E80EA442-0818-4872-9255-F46E7579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Data Analyst</a:t>
            </a:r>
          </a:p>
        </p:txBody>
      </p:sp>
      <p:sp>
        <p:nvSpPr>
          <p:cNvPr id="10" name="career-context-0">
            <a:extLst xmlns:a="http://schemas.openxmlformats.org/drawingml/2006/main">
              <a:ext uri="{FF2B5EF4-FFF2-40B4-BE49-F238E27FC236}">
                <a16:creationId xmlns:a16="http://schemas.microsoft.com/office/drawing/2014/main" id="{AED84461-FB2E-4B04-B6B0-6C1F6CD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CV + RPA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Retail data automation</a:t>
            </a:r>
          </a:p>
        </p:txBody>
      </p:sp>
      <p:sp>
        <p:nvSpPr>
          <p:cNvPr id="11" name="career-dot-1">
            <a:extLst xmlns:a="http://schemas.openxmlformats.org/drawingml/2006/main">
              <a:ext uri="{FF2B5EF4-FFF2-40B4-BE49-F238E27FC236}">
                <a16:creationId xmlns:a16="http://schemas.microsoft.com/office/drawing/2014/main" id="{B30D847A-D3AC-4114-A27D-F21A5D77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career-period-1">
            <a:extLst xmlns:a="http://schemas.openxmlformats.org/drawingml/2006/main">
              <a:ext uri="{FF2B5EF4-FFF2-40B4-BE49-F238E27FC236}">
                <a16:creationId xmlns:a16="http://schemas.microsoft.com/office/drawing/2014/main" id="{9A279E29-17EB-4318-A88B-75ED4111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98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2021.01–2024.11</a:t>
            </a:r>
          </a:p>
        </p:txBody>
      </p:sp>
      <p:sp>
        <p:nvSpPr>
          <p:cNvPr id="13" name="career-company-1">
            <a:extLst xmlns:a="http://schemas.openxmlformats.org/drawingml/2006/main">
              <a:ext uri="{FF2B5EF4-FFF2-40B4-BE49-F238E27FC236}">
                <a16:creationId xmlns:a16="http://schemas.microsoft.com/office/drawing/2014/main" id="{7B4D0E8E-F402-4FDF-8F98-1E37CF63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814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Sanha General Technology</a:t>
            </a:r>
          </a:p>
        </p:txBody>
      </p:sp>
      <p:sp>
        <p:nvSpPr>
          <p:cNvPr id="14" name="career-role-1">
            <a:extLst xmlns:a="http://schemas.openxmlformats.org/drawingml/2006/main">
              <a:ext uri="{FF2B5EF4-FFF2-40B4-BE49-F238E27FC236}">
                <a16:creationId xmlns:a16="http://schemas.microsoft.com/office/drawing/2014/main" id="{4FD857D7-2A24-423C-8F57-4EC853ED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91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AI / Automation Engineer</a:t>
            </a:r>
          </a:p>
        </p:txBody>
      </p:sp>
      <p:sp>
        <p:nvSpPr>
          <p:cNvPr id="15" name="career-context-1">
            <a:extLst xmlns:a="http://schemas.openxmlformats.org/drawingml/2006/main">
              <a:ext uri="{FF2B5EF4-FFF2-40B4-BE49-F238E27FC236}">
                <a16:creationId xmlns:a16="http://schemas.microsoft.com/office/drawing/2014/main" id="{1EE45334-50A7-40F5-BE91-6FEC5472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910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 AI + CAD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Sole in-house developer</a:t>
            </a:r>
          </a:p>
        </p:txBody>
      </p:sp>
      <p:sp>
        <p:nvSpPr>
          <p:cNvPr id="16" name="career-dot-2">
            <a:extLst xmlns:a="http://schemas.openxmlformats.org/drawingml/2006/main">
              <a:ext uri="{FF2B5EF4-FFF2-40B4-BE49-F238E27FC236}">
                <a16:creationId xmlns:a16="http://schemas.microsoft.com/office/drawing/2014/main" id="{F2D4371A-07ED-4AE0-AB08-DDCFD08A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career-period-2">
            <a:extLst xmlns:a="http://schemas.openxmlformats.org/drawingml/2006/main">
              <a:ext uri="{FF2B5EF4-FFF2-40B4-BE49-F238E27FC236}">
                <a16:creationId xmlns:a16="http://schemas.microsoft.com/office/drawing/2014/main" id="{D26009D6-C2CC-4489-B8BB-3FA683E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2024.11–2026.02</a:t>
            </a:r>
          </a:p>
        </p:txBody>
      </p:sp>
      <p:sp>
        <p:nvSpPr>
          <p:cNvPr id="18" name="career-company-2">
            <a:extLst xmlns:a="http://schemas.openxmlformats.org/drawingml/2006/main">
              <a:ext uri="{FF2B5EF4-FFF2-40B4-BE49-F238E27FC236}">
                <a16:creationId xmlns:a16="http://schemas.microsoft.com/office/drawing/2014/main" id="{F274EE47-BB59-4F02-B8AE-7AE7838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Hanmac Group</a:t>
            </a:r>
          </a:p>
        </p:txBody>
      </p:sp>
      <p:sp>
        <p:nvSpPr>
          <p:cNvPr id="19" name="career-role-2">
            <a:extLst xmlns:a="http://schemas.openxmlformats.org/drawingml/2006/main">
              <a:ext uri="{FF2B5EF4-FFF2-40B4-BE49-F238E27FC236}">
                <a16:creationId xmlns:a16="http://schemas.microsoft.com/office/drawing/2014/main" id="{A14FE287-AE10-473E-9D39-89A34AD3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ML Engineer / Researcher</a:t>
            </a:r>
          </a:p>
        </p:txBody>
      </p:sp>
      <p:sp>
        <p:nvSpPr>
          <p:cNvPr id="20" name="career-context-2">
            <a:extLst xmlns:a="http://schemas.openxmlformats.org/drawingml/2006/main">
              <a:ext uri="{FF2B5EF4-FFF2-40B4-BE49-F238E27FC236}">
                <a16:creationId xmlns:a16="http://schemas.microsoft.com/office/drawing/2014/main" id="{CA147C5B-FEC7-494E-AE35-6BB5C558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910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Korean NLP + RAG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Probabilistic ML</a:t>
            </a:r>
          </a:p>
        </p:txBody>
      </p:sp>
      <p:sp>
        <p:nvSpPr>
          <p:cNvPr id="21" name="career-dot-3">
            <a:extLst xmlns:a="http://schemas.openxmlformats.org/drawingml/2006/main">
              <a:ext uri="{FF2B5EF4-FFF2-40B4-BE49-F238E27FC236}">
                <a16:creationId xmlns:a16="http://schemas.microsoft.com/office/drawing/2014/main" id="{C30AC950-9567-4DE4-9E28-F1F50409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career-period-3">
            <a:extLst xmlns:a="http://schemas.openxmlformats.org/drawingml/2006/main">
              <a:ext uri="{FF2B5EF4-FFF2-40B4-BE49-F238E27FC236}">
                <a16:creationId xmlns:a16="http://schemas.microsoft.com/office/drawing/2014/main" id="{2296EE41-48C2-41E2-81DF-CBB2EB72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098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2026.04–PRESENT</a:t>
            </a:r>
          </a:p>
        </p:txBody>
      </p:sp>
      <p:sp>
        <p:nvSpPr>
          <p:cNvPr id="23" name="career-company-3">
            <a:extLst xmlns:a="http://schemas.openxmlformats.org/drawingml/2006/main">
              <a:ext uri="{FF2B5EF4-FFF2-40B4-BE49-F238E27FC236}">
                <a16:creationId xmlns:a16="http://schemas.microsoft.com/office/drawing/2014/main" id="{6CE44FD1-209F-440C-BD11-E6075B7C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5814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Sejong Analysis Research Institute</a:t>
            </a:r>
          </a:p>
        </p:txBody>
      </p:sp>
      <p:sp>
        <p:nvSpPr>
          <p:cNvPr id="24" name="career-role-3">
            <a:extLst xmlns:a="http://schemas.openxmlformats.org/drawingml/2006/main">
              <a:ext uri="{FF2B5EF4-FFF2-40B4-BE49-F238E27FC236}">
                <a16:creationId xmlns:a16="http://schemas.microsoft.com/office/drawing/2014/main" id="{67119811-3E72-41E4-9E34-F42E00D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91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25" name="career-context-3">
            <a:extLst xmlns:a="http://schemas.openxmlformats.org/drawingml/2006/main">
              <a:ext uri="{FF2B5EF4-FFF2-40B4-BE49-F238E27FC236}">
                <a16:creationId xmlns:a16="http://schemas.microsoft.com/office/drawing/2014/main" id="{91B69C90-8997-4483-8E58-2B8A5D3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7910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Probabilistic ML + MLOps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End-to-end ownership</a:t>
            </a:r>
          </a:p>
        </p:txBody>
      </p:sp>
    </p:spTree>
    <p:extLst>
      <p:ext uri="{BB962C8B-B14F-4D97-AF65-F5344CB8AC3E}">
        <p14:creationId xmlns:p14="http://schemas.microsoft.com/office/powerpoint/2010/main" val="1378684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-5">
            <a:extLst xmlns:a="http://schemas.openxmlformats.org/drawingml/2006/main">
              <a:ext uri="{FF2B5EF4-FFF2-40B4-BE49-F238E27FC236}">
                <a16:creationId xmlns:a16="http://schemas.microsoft.com/office/drawing/2014/main" id="{918EC4AB-6853-41FE-84C0-A67CC365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HARIM CHOI | APPLIED ML SYSTEMS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5D46E4F-B1D8-4FB5-98E3-78D9B3D5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Sejong rebuilt the full procurement decision path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555D64E1-324D-4574-9D62-9F53E274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00B4E15-F8BD-4A30-8CDD-1662B1DE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ejong-subtitle">
            <a:extLst xmlns:a="http://schemas.openxmlformats.org/drawingml/2006/main">
              <a:ext uri="{FF2B5EF4-FFF2-40B4-BE49-F238E27FC236}">
                <a16:creationId xmlns:a16="http://schemas.microsoft.com/office/drawing/2014/main" id="{8B69929C-46BD-4696-8CA1-153687A9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Inherited a 5-person, 6-month scope and rebuilt the end-to-end system independently within 3 months.</a:t>
            </a:r>
          </a:p>
        </p:txBody>
      </p:sp>
      <p:sp>
        <p:nvSpPr>
          <p:cNvPr id="6" name="sejong-top-arrow-0-line">
            <a:extLst xmlns:a="http://schemas.openxmlformats.org/drawingml/2006/main">
              <a:ext uri="{FF2B5EF4-FFF2-40B4-BE49-F238E27FC236}">
                <a16:creationId xmlns:a16="http://schemas.microsoft.com/office/drawing/2014/main" id="{8E1E7DDB-4665-4FC6-A3A4-3CD6852B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860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sejong-top-arrow-0-head">
            <a:extLst xmlns:a="http://schemas.openxmlformats.org/drawingml/2006/main">
              <a:ext uri="{FF2B5EF4-FFF2-40B4-BE49-F238E27FC236}">
                <a16:creationId xmlns:a16="http://schemas.microsoft.com/office/drawing/2014/main" id="{FFB0BB06-C46A-41BC-A074-5B95494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384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jong-top-arrow-1-line">
            <a:extLst xmlns:a="http://schemas.openxmlformats.org/drawingml/2006/main">
              <a:ext uri="{FF2B5EF4-FFF2-40B4-BE49-F238E27FC236}">
                <a16:creationId xmlns:a16="http://schemas.microsoft.com/office/drawing/2014/main" id="{C52ABB84-C3FB-4AC1-84C4-8B0F22FF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860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sejong-top-arrow-1-head">
            <a:extLst xmlns:a="http://schemas.openxmlformats.org/drawingml/2006/main">
              <a:ext uri="{FF2B5EF4-FFF2-40B4-BE49-F238E27FC236}">
                <a16:creationId xmlns:a16="http://schemas.microsoft.com/office/drawing/2014/main" id="{30DCC888-FC71-416D-8DDD-940A1BD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ejong-top-arrow-2-line">
            <a:extLst xmlns:a="http://schemas.openxmlformats.org/drawingml/2006/main">
              <a:ext uri="{FF2B5EF4-FFF2-40B4-BE49-F238E27FC236}">
                <a16:creationId xmlns:a16="http://schemas.microsoft.com/office/drawing/2014/main" id="{E795C4C7-E610-4B9B-8917-853DA87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860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sejong-top-arrow-2-head">
            <a:extLst xmlns:a="http://schemas.openxmlformats.org/drawingml/2006/main">
              <a:ext uri="{FF2B5EF4-FFF2-40B4-BE49-F238E27FC236}">
                <a16:creationId xmlns:a16="http://schemas.microsoft.com/office/drawing/2014/main" id="{3EC94828-DD82-4196-B803-6445AEE2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384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ejong-turn-arrow-line">
            <a:extLst xmlns:a="http://schemas.openxmlformats.org/drawingml/2006/main">
              <a:ext uri="{FF2B5EF4-FFF2-40B4-BE49-F238E27FC236}">
                <a16:creationId xmlns:a16="http://schemas.microsoft.com/office/drawing/2014/main" id="{8C52FA9D-815B-4A13-A472-FA8A9B8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86050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sejong-turn-arrow-head">
            <a:extLst xmlns:a="http://schemas.openxmlformats.org/drawingml/2006/main">
              <a:ext uri="{FF2B5EF4-FFF2-40B4-BE49-F238E27FC236}">
                <a16:creationId xmlns:a16="http://schemas.microsoft.com/office/drawing/2014/main" id="{5091EBFE-D4CA-4ACC-8B45-560AFEE4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3147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ejong-bottom-arrow-0-line">
            <a:extLst xmlns:a="http://schemas.openxmlformats.org/drawingml/2006/main">
              <a:ext uri="{FF2B5EF4-FFF2-40B4-BE49-F238E27FC236}">
                <a16:creationId xmlns:a16="http://schemas.microsoft.com/office/drawing/2014/main" id="{A957C6A1-6804-448F-B207-5203A36E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957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sejong-bottom-arrow-0-head">
            <a:extLst xmlns:a="http://schemas.openxmlformats.org/drawingml/2006/main">
              <a:ext uri="{FF2B5EF4-FFF2-40B4-BE49-F238E27FC236}">
                <a16:creationId xmlns:a16="http://schemas.microsoft.com/office/drawing/2014/main" id="{0330B4CB-9E66-4678-AC19-CDE2E6FA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48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sejong-bottom-arrow-1-line">
            <a:extLst xmlns:a="http://schemas.openxmlformats.org/drawingml/2006/main">
              <a:ext uri="{FF2B5EF4-FFF2-40B4-BE49-F238E27FC236}">
                <a16:creationId xmlns:a16="http://schemas.microsoft.com/office/drawing/2014/main" id="{57242CC9-2C75-4148-A7EB-D6CCDB23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957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7" name="sejong-bottom-arrow-1-head">
            <a:extLst xmlns:a="http://schemas.openxmlformats.org/drawingml/2006/main">
              <a:ext uri="{FF2B5EF4-FFF2-40B4-BE49-F238E27FC236}">
                <a16:creationId xmlns:a16="http://schemas.microsoft.com/office/drawing/2014/main" id="{4F291393-7C6C-4FCC-8C5F-05B427AB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48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sejong-data">
            <a:extLst xmlns:a="http://schemas.openxmlformats.org/drawingml/2006/main">
              <a:ext uri="{FF2B5EF4-FFF2-40B4-BE49-F238E27FC236}">
                <a16:creationId xmlns:a16="http://schemas.microsoft.com/office/drawing/2014/main" id="{56B71672-5B6A-4789-BB31-17770723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ejong-data-text">
            <a:extLst xmlns:a="http://schemas.openxmlformats.org/drawingml/2006/main">
              <a:ext uri="{FF2B5EF4-FFF2-40B4-BE49-F238E27FC236}">
                <a16:creationId xmlns:a16="http://schemas.microsoft.com/office/drawing/2014/main" id="{09DCA300-843D-4656-89D8-3E0E78CB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098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collection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OCR</a:t>
            </a:r>
          </a:p>
        </p:txBody>
      </p:sp>
      <p:sp>
        <p:nvSpPr>
          <p:cNvPr id="20" name="sejong-features">
            <a:extLst xmlns:a="http://schemas.openxmlformats.org/drawingml/2006/main">
              <a:ext uri="{FF2B5EF4-FFF2-40B4-BE49-F238E27FC236}">
                <a16:creationId xmlns:a16="http://schemas.microsoft.com/office/drawing/2014/main" id="{4BC33FF2-1D2D-4325-AC1E-F384067D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336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ejong-features-text">
            <a:extLst xmlns:a="http://schemas.openxmlformats.org/drawingml/2006/main">
              <a:ext uri="{FF2B5EF4-FFF2-40B4-BE49-F238E27FC236}">
                <a16:creationId xmlns:a16="http://schemas.microsoft.com/office/drawing/2014/main" id="{C4397FB1-F004-4DCB-8515-CF03D3E0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098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22" name="sejong-training">
            <a:extLst xmlns:a="http://schemas.openxmlformats.org/drawingml/2006/main">
              <a:ext uri="{FF2B5EF4-FFF2-40B4-BE49-F238E27FC236}">
                <a16:creationId xmlns:a16="http://schemas.microsoft.com/office/drawing/2014/main" id="{BAB9DE35-2E8B-4543-9F20-6CD33C69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336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ejong-training-text">
            <a:extLst xmlns:a="http://schemas.openxmlformats.org/drawingml/2006/main">
              <a:ext uri="{FF2B5EF4-FFF2-40B4-BE49-F238E27FC236}">
                <a16:creationId xmlns:a16="http://schemas.microsoft.com/office/drawing/2014/main" id="{13BCEEFC-692E-4BC4-840D-1E8B6C2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098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 +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registry</a:t>
            </a:r>
          </a:p>
        </p:txBody>
      </p:sp>
      <p:sp>
        <p:nvSpPr>
          <p:cNvPr id="24" name="sejong-quantiles">
            <a:extLst xmlns:a="http://schemas.openxmlformats.org/drawingml/2006/main">
              <a:ext uri="{FF2B5EF4-FFF2-40B4-BE49-F238E27FC236}">
                <a16:creationId xmlns:a16="http://schemas.microsoft.com/office/drawing/2014/main" id="{226D0803-062A-48DD-9C90-40B8F953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sejong-quantiles-text">
            <a:extLst xmlns:a="http://schemas.openxmlformats.org/drawingml/2006/main">
              <a:ext uri="{FF2B5EF4-FFF2-40B4-BE49-F238E27FC236}">
                <a16:creationId xmlns:a16="http://schemas.microsoft.com/office/drawing/2014/main" id="{4758F830-ADC0-46C1-806E-FAC0406C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199-quantile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26" name="sejong-mc">
            <a:extLst xmlns:a="http://schemas.openxmlformats.org/drawingml/2006/main">
              <a:ext uri="{FF2B5EF4-FFF2-40B4-BE49-F238E27FC236}">
                <a16:creationId xmlns:a16="http://schemas.microsoft.com/office/drawing/2014/main" id="{584C3BDD-A974-484C-8EA2-DAFA7190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433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ejong-mc-text">
            <a:extLst xmlns:a="http://schemas.openxmlformats.org/drawingml/2006/main">
              <a:ext uri="{FF2B5EF4-FFF2-40B4-BE49-F238E27FC236}">
                <a16:creationId xmlns:a16="http://schemas.microsoft.com/office/drawing/2014/main" id="{32328C8D-DF73-4C95-AC2B-35D73622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195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Monte Carlo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28" name="sejong-kpi">
            <a:extLst xmlns:a="http://schemas.openxmlformats.org/drawingml/2006/main">
              <a:ext uri="{FF2B5EF4-FFF2-40B4-BE49-F238E27FC236}">
                <a16:creationId xmlns:a16="http://schemas.microsoft.com/office/drawing/2014/main" id="{FC3A5BD0-FB22-42FF-96DA-6F06D08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sejong-kpi-text">
            <a:extLst xmlns:a="http://schemas.openxmlformats.org/drawingml/2006/main">
              <a:ext uri="{FF2B5EF4-FFF2-40B4-BE49-F238E27FC236}">
                <a16:creationId xmlns:a16="http://schemas.microsoft.com/office/drawing/2014/main" id="{39241EAE-C4C6-4DAA-A84D-159121B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6195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3-way KPI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harness</a:t>
            </a:r>
          </a:p>
        </p:txBody>
      </p:sp>
      <p:sp>
        <p:nvSpPr>
          <p:cNvPr id="30" name="sejong-deploy">
            <a:extLst xmlns:a="http://schemas.openxmlformats.org/drawingml/2006/main">
              <a:ext uri="{FF2B5EF4-FFF2-40B4-BE49-F238E27FC236}">
                <a16:creationId xmlns:a16="http://schemas.microsoft.com/office/drawing/2014/main" id="{8B2E836F-129C-46C4-9473-086842D8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433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ejong-deploy-text">
            <a:extLst xmlns:a="http://schemas.openxmlformats.org/drawingml/2006/main">
              <a:ext uri="{FF2B5EF4-FFF2-40B4-BE49-F238E27FC236}">
                <a16:creationId xmlns:a16="http://schemas.microsoft.com/office/drawing/2014/main" id="{3BB09C66-4176-4F97-AFBC-D6A80AF6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32" name="sejong-method-strip">
            <a:extLst xmlns:a="http://schemas.openxmlformats.org/drawingml/2006/main">
              <a:ext uri="{FF2B5EF4-FFF2-40B4-BE49-F238E27FC236}">
                <a16:creationId xmlns:a16="http://schemas.microsoft.com/office/drawing/2014/main" id="{527F970F-F014-4D37-AA93-79FC6D4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52975"/>
            <a:ext cx="768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ejong-model-label">
            <a:extLst xmlns:a="http://schemas.openxmlformats.org/drawingml/2006/main">
              <a:ext uri="{FF2B5EF4-FFF2-40B4-BE49-F238E27FC236}">
                <a16:creationId xmlns:a16="http://schemas.microsoft.com/office/drawing/2014/main" id="{8F2AD825-1E7B-459C-9F21-E12B84F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43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MODEL FAMILIES</a:t>
            </a:r>
          </a:p>
        </p:txBody>
      </p:sp>
      <p:sp>
        <p:nvSpPr>
          <p:cNvPr id="34" name="sejong-models">
            <a:extLst xmlns:a="http://schemas.openxmlformats.org/drawingml/2006/main">
              <a:ext uri="{FF2B5EF4-FFF2-40B4-BE49-F238E27FC236}">
                <a16:creationId xmlns:a16="http://schemas.microsoft.com/office/drawing/2014/main" id="{D8883BB4-888E-4C59-903F-F7DD829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38750"/>
            <a:ext cx="720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Quantile regression · conformal prediction · distributional regression · PFN / ICL</a:t>
            </a:r>
          </a:p>
        </p:txBody>
      </p:sp>
      <p:sp>
        <p:nvSpPr>
          <p:cNvPr id="35" name="sejong-stat-rail">
            <a:extLst xmlns:a="http://schemas.openxmlformats.org/drawingml/2006/main">
              <a:ext uri="{FF2B5EF4-FFF2-40B4-BE49-F238E27FC236}">
                <a16:creationId xmlns:a16="http://schemas.microsoft.com/office/drawing/2014/main" id="{477B7335-3A8F-4E5D-9655-7B81E164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09700"/>
            <a:ext cx="3286125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6" name="sejong-ocr-metric">
            <a:extLst xmlns:a="http://schemas.openxmlformats.org/drawingml/2006/main">
              <a:ext uri="{FF2B5EF4-FFF2-40B4-BE49-F238E27FC236}">
                <a16:creationId xmlns:a16="http://schemas.microsoft.com/office/drawing/2014/main" id="{641D8F3F-8125-4834-B662-8E30D4A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28800"/>
            <a:ext cx="2790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≈50 → 90%</a:t>
            </a:r>
          </a:p>
        </p:txBody>
      </p:sp>
      <p:sp>
        <p:nvSpPr>
          <p:cNvPr id="37" name="sejong-ocr-copy">
            <a:extLst xmlns:a="http://schemas.openxmlformats.org/drawingml/2006/main">
              <a:ext uri="{FF2B5EF4-FFF2-40B4-BE49-F238E27FC236}">
                <a16:creationId xmlns:a16="http://schemas.microsoft.com/office/drawing/2014/main" id="{75A500E0-1ABB-4517-A085-E5C28F20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OCR accuracy under the internal protocol</a:t>
            </a:r>
          </a:p>
        </p:txBody>
      </p:sp>
      <p:sp>
        <p:nvSpPr>
          <p:cNvPr id="38" name="sejong-kpi-stat-rule">
            <a:extLst xmlns:a="http://schemas.openxmlformats.org/drawingml/2006/main">
              <a:ext uri="{FF2B5EF4-FFF2-40B4-BE49-F238E27FC236}">
                <a16:creationId xmlns:a16="http://schemas.microsoft.com/office/drawing/2014/main" id="{E9269BFD-8732-46AD-B018-3DFD1E47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9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ejong-kpi-stat-metric">
            <a:extLst xmlns:a="http://schemas.openxmlformats.org/drawingml/2006/main">
              <a:ext uri="{FF2B5EF4-FFF2-40B4-BE49-F238E27FC236}">
                <a16:creationId xmlns:a16="http://schemas.microsoft.com/office/drawing/2014/main" id="{A19AAD73-457A-4F37-92D2-B1BEAD21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28975"/>
            <a:ext cx="2790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+35%</a:t>
            </a:r>
          </a:p>
        </p:txBody>
      </p:sp>
      <p:sp>
        <p:nvSpPr>
          <p:cNvPr id="40" name="sejong-kpi-stat-copy">
            <a:extLst xmlns:a="http://schemas.openxmlformats.org/drawingml/2006/main">
              <a:ext uri="{FF2B5EF4-FFF2-40B4-BE49-F238E27FC236}">
                <a16:creationId xmlns:a16="http://schemas.microsoft.com/office/drawing/2014/main" id="{9DB57F91-884D-4DD6-B2B7-D9987051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95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Internal relative bid-win KPI</a:t>
            </a:r>
          </a:p>
        </p:txBody>
      </p:sp>
      <p:sp>
        <p:nvSpPr>
          <p:cNvPr id="41" name="sejong-speed-rule">
            <a:extLst xmlns:a="http://schemas.openxmlformats.org/drawingml/2006/main">
              <a:ext uri="{FF2B5EF4-FFF2-40B4-BE49-F238E27FC236}">
                <a16:creationId xmlns:a16="http://schemas.microsoft.com/office/drawing/2014/main" id="{546583A8-7797-4071-9EB2-1060FB2F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279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sejong-speed-metric">
            <a:extLst xmlns:a="http://schemas.openxmlformats.org/drawingml/2006/main">
              <a:ext uri="{FF2B5EF4-FFF2-40B4-BE49-F238E27FC236}">
                <a16:creationId xmlns:a16="http://schemas.microsoft.com/office/drawing/2014/main" id="{9B5E2D0A-DFD5-4ADF-8507-FD44B881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2790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136 → 25 s</a:t>
            </a:r>
          </a:p>
        </p:txBody>
      </p:sp>
      <p:sp>
        <p:nvSpPr>
          <p:cNvPr id="43" name="sejong-speed-copy">
            <a:extLst xmlns:a="http://schemas.openxmlformats.org/drawingml/2006/main">
              <a:ext uri="{FF2B5EF4-FFF2-40B4-BE49-F238E27FC236}">
                <a16:creationId xmlns:a16="http://schemas.microsoft.com/office/drawing/2014/main" id="{C5018FA8-4B6B-4EDE-83C0-D192F5F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Vectorized inference · approximately 5.4×</a:t>
            </a:r>
          </a:p>
        </p:txBody>
      </p:sp>
    </p:spTree>
    <p:extLst>
      <p:ext uri="{BB962C8B-B14F-4D97-AF65-F5344CB8AC3E}">
        <p14:creationId xmlns:p14="http://schemas.microsoft.com/office/powerpoint/2010/main" val="260054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6">
            <a:extLst xmlns:a="http://schemas.openxmlformats.org/drawingml/2006/main">
              <a:ext uri="{FF2B5EF4-FFF2-40B4-BE49-F238E27FC236}">
                <a16:creationId xmlns:a16="http://schemas.microsoft.com/office/drawing/2014/main" id="{C5C5F440-FA39-4376-B0AE-75FFAD9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HARIM CHOI | APPLIED ML SYSTEMS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D72194D-949D-4591-BDC3-94F4008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Hanmac paired production NLP with RAG drafting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6699CBB6-2391-4E9A-B130-6277CBC2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ADFA9AC9-EEBB-4892-83E1-607FD973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hanmac-nlp-label">
            <a:extLst xmlns:a="http://schemas.openxmlformats.org/drawingml/2006/main">
              <a:ext uri="{FF2B5EF4-FFF2-40B4-BE49-F238E27FC236}">
                <a16:creationId xmlns:a16="http://schemas.microsoft.com/office/drawing/2014/main" id="{6B15F9D6-E35D-4A90-BC1D-78E468E1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NLP CLASSIFIER</a:t>
            </a:r>
          </a:p>
        </p:txBody>
      </p:sp>
      <p:sp>
        <p:nvSpPr>
          <p:cNvPr id="6" name="hanmac-nlp-arrow-0-line">
            <a:extLst xmlns:a="http://schemas.openxmlformats.org/drawingml/2006/main">
              <a:ext uri="{FF2B5EF4-FFF2-40B4-BE49-F238E27FC236}">
                <a16:creationId xmlns:a16="http://schemas.microsoft.com/office/drawing/2014/main" id="{57A5721D-8233-4705-A27C-E2B2410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28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hanmac-nlp-arrow-0-head">
            <a:extLst xmlns:a="http://schemas.openxmlformats.org/drawingml/2006/main">
              <a:ext uri="{FF2B5EF4-FFF2-40B4-BE49-F238E27FC236}">
                <a16:creationId xmlns:a16="http://schemas.microsoft.com/office/drawing/2014/main" id="{68770987-14CC-4705-A917-EC635B26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hanmac-nlp-arrow-1-line">
            <a:extLst xmlns:a="http://schemas.openxmlformats.org/drawingml/2006/main">
              <a:ext uri="{FF2B5EF4-FFF2-40B4-BE49-F238E27FC236}">
                <a16:creationId xmlns:a16="http://schemas.microsoft.com/office/drawing/2014/main" id="{FE69FEA2-2355-4F5F-8246-D59F4E43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28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hanmac-nlp-arrow-1-head">
            <a:extLst xmlns:a="http://schemas.openxmlformats.org/drawingml/2006/main">
              <a:ext uri="{FF2B5EF4-FFF2-40B4-BE49-F238E27FC236}">
                <a16:creationId xmlns:a16="http://schemas.microsoft.com/office/drawing/2014/main" id="{712613C9-A7BE-4825-A90C-BBC7499C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81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hanmac-nlp-arrow-2-line">
            <a:extLst xmlns:a="http://schemas.openxmlformats.org/drawingml/2006/main">
              <a:ext uri="{FF2B5EF4-FFF2-40B4-BE49-F238E27FC236}">
                <a16:creationId xmlns:a16="http://schemas.microsoft.com/office/drawing/2014/main" id="{444146B3-7D9E-407E-8669-1779BEF8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428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hanmac-nlp-arrow-2-head">
            <a:extLst xmlns:a="http://schemas.openxmlformats.org/drawingml/2006/main">
              <a:ext uri="{FF2B5EF4-FFF2-40B4-BE49-F238E27FC236}">
                <a16:creationId xmlns:a16="http://schemas.microsoft.com/office/drawing/2014/main" id="{3A83E3E0-3402-4867-B9A0-55450B22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hanmac-weak">
            <a:extLst xmlns:a="http://schemas.openxmlformats.org/drawingml/2006/main">
              <a:ext uri="{FF2B5EF4-FFF2-40B4-BE49-F238E27FC236}">
                <a16:creationId xmlns:a16="http://schemas.microsoft.com/office/drawing/2014/main" id="{AA4A17E8-00F8-48C5-BFCD-EAD891F4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hanmac-weak-text">
            <a:extLst xmlns:a="http://schemas.openxmlformats.org/drawingml/2006/main">
              <a:ext uri="{FF2B5EF4-FFF2-40B4-BE49-F238E27FC236}">
                <a16:creationId xmlns:a16="http://schemas.microsoft.com/office/drawing/2014/main" id="{95F5F058-C3F2-4C1A-A0EC-FAB20151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145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Weak supervision</a:t>
            </a:r>
          </a:p>
        </p:txBody>
      </p:sp>
      <p:sp>
        <p:nvSpPr>
          <p:cNvPr id="14" name="hanmac-roberta">
            <a:extLst xmlns:a="http://schemas.openxmlformats.org/drawingml/2006/main">
              <a:ext uri="{FF2B5EF4-FFF2-40B4-BE49-F238E27FC236}">
                <a16:creationId xmlns:a16="http://schemas.microsoft.com/office/drawing/2014/main" id="{0A67ECD1-B585-4F39-9045-AF63CED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3835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hanmac-roberta-text">
            <a:extLst xmlns:a="http://schemas.openxmlformats.org/drawingml/2006/main">
              <a:ext uri="{FF2B5EF4-FFF2-40B4-BE49-F238E27FC236}">
                <a16:creationId xmlns:a16="http://schemas.microsoft.com/office/drawing/2014/main" id="{6A7B99A9-0ED9-478B-BE13-74224FD9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145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RoBERTa-large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LoRA / PEFT</a:t>
            </a:r>
          </a:p>
        </p:txBody>
      </p:sp>
      <p:sp>
        <p:nvSpPr>
          <p:cNvPr id="16" name="hanmac-onnx">
            <a:extLst xmlns:a="http://schemas.openxmlformats.org/drawingml/2006/main">
              <a:ext uri="{FF2B5EF4-FFF2-40B4-BE49-F238E27FC236}">
                <a16:creationId xmlns:a16="http://schemas.microsoft.com/office/drawing/2014/main" id="{5CB482FA-56C7-42E4-A8D1-9663B948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3835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hanmac-onnx-text">
            <a:extLst xmlns:a="http://schemas.openxmlformats.org/drawingml/2006/main">
              <a:ext uri="{FF2B5EF4-FFF2-40B4-BE49-F238E27FC236}">
                <a16:creationId xmlns:a16="http://schemas.microsoft.com/office/drawing/2014/main" id="{715FD900-85E1-4B0F-9E24-CD8C3CF6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145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INT8 ONNX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≈330 MB</a:t>
            </a:r>
          </a:p>
        </p:txBody>
      </p:sp>
      <p:sp>
        <p:nvSpPr>
          <p:cNvPr id="18" name="hanmac-fastapi">
            <a:extLst xmlns:a="http://schemas.openxmlformats.org/drawingml/2006/main">
              <a:ext uri="{FF2B5EF4-FFF2-40B4-BE49-F238E27FC236}">
                <a16:creationId xmlns:a16="http://schemas.microsoft.com/office/drawing/2014/main" id="{8F4A58FB-AD86-4689-9872-171AEC21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3835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hanmac-fastapi-text">
            <a:extLst xmlns:a="http://schemas.openxmlformats.org/drawingml/2006/main">
              <a:ext uri="{FF2B5EF4-FFF2-40B4-BE49-F238E27FC236}">
                <a16:creationId xmlns:a16="http://schemas.microsoft.com/office/drawing/2014/main" id="{39E1E838-306C-4C40-8D26-42DBAD15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145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FastAPI batch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≈50 ms CPU</a:t>
            </a:r>
          </a:p>
        </p:txBody>
      </p:sp>
      <p:sp>
        <p:nvSpPr>
          <p:cNvPr id="20" name="hanmac-rag-label">
            <a:extLst xmlns:a="http://schemas.openxmlformats.org/drawingml/2006/main">
              <a:ext uri="{FF2B5EF4-FFF2-40B4-BE49-F238E27FC236}">
                <a16:creationId xmlns:a16="http://schemas.microsoft.com/office/drawing/2014/main" id="{0CECDCF8-48D7-4C5F-9CD8-FC202566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81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RAG DRAFTING AGENT</a:t>
            </a:r>
          </a:p>
        </p:txBody>
      </p:sp>
      <p:sp>
        <p:nvSpPr>
          <p:cNvPr id="21" name="hanmac-rag-arrow-0-line">
            <a:extLst xmlns:a="http://schemas.openxmlformats.org/drawingml/2006/main">
              <a:ext uri="{FF2B5EF4-FFF2-40B4-BE49-F238E27FC236}">
                <a16:creationId xmlns:a16="http://schemas.microsoft.com/office/drawing/2014/main" id="{8C3EDB9E-C89B-4F8E-A19F-F4421729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767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2" name="hanmac-rag-arrow-0-head">
            <a:extLst xmlns:a="http://schemas.openxmlformats.org/drawingml/2006/main">
              <a:ext uri="{FF2B5EF4-FFF2-40B4-BE49-F238E27FC236}">
                <a16:creationId xmlns:a16="http://schemas.microsoft.com/office/drawing/2014/main" id="{FC11DB39-87DC-4761-BE84-4C95DF27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hanmac-rag-arrow-1-line">
            <a:extLst xmlns:a="http://schemas.openxmlformats.org/drawingml/2006/main">
              <a:ext uri="{FF2B5EF4-FFF2-40B4-BE49-F238E27FC236}">
                <a16:creationId xmlns:a16="http://schemas.microsoft.com/office/drawing/2014/main" id="{AA5253DF-9BB6-496D-8EE1-B84223DF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767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4" name="hanmac-rag-arrow-1-head">
            <a:extLst xmlns:a="http://schemas.openxmlformats.org/drawingml/2006/main">
              <a:ext uri="{FF2B5EF4-FFF2-40B4-BE49-F238E27FC236}">
                <a16:creationId xmlns:a16="http://schemas.microsoft.com/office/drawing/2014/main" id="{03ECCB5C-C89F-44BE-B7D5-286DBAAF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29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5" name="hanmac-rag-arrow-2-line">
            <a:extLst xmlns:a="http://schemas.openxmlformats.org/drawingml/2006/main">
              <a:ext uri="{FF2B5EF4-FFF2-40B4-BE49-F238E27FC236}">
                <a16:creationId xmlns:a16="http://schemas.microsoft.com/office/drawing/2014/main" id="{E53E10BF-868C-4105-946F-8C2E487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767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hanmac-rag-arrow-2-head">
            <a:extLst xmlns:a="http://schemas.openxmlformats.org/drawingml/2006/main">
              <a:ext uri="{FF2B5EF4-FFF2-40B4-BE49-F238E27FC236}">
                <a16:creationId xmlns:a16="http://schemas.microsoft.com/office/drawing/2014/main" id="{D312526B-9725-4EA4-9E13-3949B71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hanmac-input">
            <a:extLst xmlns:a="http://schemas.openxmlformats.org/drawingml/2006/main">
              <a:ext uri="{FF2B5EF4-FFF2-40B4-BE49-F238E27FC236}">
                <a16:creationId xmlns:a16="http://schemas.microsoft.com/office/drawing/2014/main" id="{63CC2F6F-E292-47CD-8713-60EE466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8620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hanmac-input-text">
            <a:extLst xmlns:a="http://schemas.openxmlformats.org/drawingml/2006/main">
              <a:ext uri="{FF2B5EF4-FFF2-40B4-BE49-F238E27FC236}">
                <a16:creationId xmlns:a16="http://schemas.microsoft.com/office/drawing/2014/main" id="{55C2A452-8EF4-4496-A3A5-4EC855E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624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OCR + cost data</a:t>
            </a:r>
          </a:p>
        </p:txBody>
      </p:sp>
      <p:sp>
        <p:nvSpPr>
          <p:cNvPr id="29" name="hanmac-faiss">
            <a:extLst xmlns:a="http://schemas.openxmlformats.org/drawingml/2006/main">
              <a:ext uri="{FF2B5EF4-FFF2-40B4-BE49-F238E27FC236}">
                <a16:creationId xmlns:a16="http://schemas.microsoft.com/office/drawing/2014/main" id="{31DEB5DB-7E14-42FF-8BFE-8BF6BCCC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8620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hanmac-faiss-text">
            <a:extLst xmlns:a="http://schemas.openxmlformats.org/drawingml/2006/main">
              <a:ext uri="{FF2B5EF4-FFF2-40B4-BE49-F238E27FC236}">
                <a16:creationId xmlns:a16="http://schemas.microsoft.com/office/drawing/2014/main" id="{B64A2433-E77E-4958-AB96-C83E7FB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624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FAISS retrieval</a:t>
            </a:r>
          </a:p>
        </p:txBody>
      </p:sp>
      <p:sp>
        <p:nvSpPr>
          <p:cNvPr id="31" name="hanmac-graph">
            <a:extLst xmlns:a="http://schemas.openxmlformats.org/drawingml/2006/main">
              <a:ext uri="{FF2B5EF4-FFF2-40B4-BE49-F238E27FC236}">
                <a16:creationId xmlns:a16="http://schemas.microsoft.com/office/drawing/2014/main" id="{F0D64F9A-074B-4F4C-9253-6EDBF96C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8620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hanmac-graph-text">
            <a:extLst xmlns:a="http://schemas.openxmlformats.org/drawingml/2006/main">
              <a:ext uri="{FF2B5EF4-FFF2-40B4-BE49-F238E27FC236}">
                <a16:creationId xmlns:a16="http://schemas.microsoft.com/office/drawing/2014/main" id="{64C3F7B6-D965-40DC-9E33-D94B21C3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624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LangChain +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33" name="hanmac-output">
            <a:extLst xmlns:a="http://schemas.openxmlformats.org/drawingml/2006/main">
              <a:ext uri="{FF2B5EF4-FFF2-40B4-BE49-F238E27FC236}">
                <a16:creationId xmlns:a16="http://schemas.microsoft.com/office/drawing/2014/main" id="{966B8DB1-E811-48F0-892E-C4A5B96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86200"/>
            <a:ext cx="1466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hanmac-output-text">
            <a:extLst xmlns:a="http://schemas.openxmlformats.org/drawingml/2006/main">
              <a:ext uri="{FF2B5EF4-FFF2-40B4-BE49-F238E27FC236}">
                <a16:creationId xmlns:a16="http://schemas.microsoft.com/office/drawing/2014/main" id="{C2EB84EC-3A91-4E13-AC1E-33EA308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624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Takeoff sheets +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drafts</a:t>
            </a:r>
          </a:p>
        </p:txBody>
      </p:sp>
      <p:sp>
        <p:nvSpPr>
          <p:cNvPr id="35" name="hanmac-rail">
            <a:extLst xmlns:a="http://schemas.openxmlformats.org/drawingml/2006/main">
              <a:ext uri="{FF2B5EF4-FFF2-40B4-BE49-F238E27FC236}">
                <a16:creationId xmlns:a16="http://schemas.microsoft.com/office/drawing/2014/main" id="{77499DDD-ED1C-46D0-82EB-29197E3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62100"/>
            <a:ext cx="35623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6" name="hanmac-cal-title">
            <a:extLst xmlns:a="http://schemas.openxmlformats.org/drawingml/2006/main">
              <a:ext uri="{FF2B5EF4-FFF2-40B4-BE49-F238E27FC236}">
                <a16:creationId xmlns:a16="http://schemas.microsoft.com/office/drawing/2014/main" id="{4373220B-BCF8-4E7B-BFE8-6BB203A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859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Context-specific calibration</a:t>
            </a:r>
          </a:p>
        </p:txBody>
      </p:sp>
      <p:sp>
        <p:nvSpPr>
          <p:cNvPr id="37" name="hanmac-cal-copy">
            <a:extLst xmlns:a="http://schemas.openxmlformats.org/drawingml/2006/main">
              <a:ext uri="{FF2B5EF4-FFF2-40B4-BE49-F238E27FC236}">
                <a16:creationId xmlns:a16="http://schemas.microsoft.com/office/drawing/2014/main" id="{28867B8E-6FCB-40EB-A358-30D4C98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43175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Redesigned R2CCP evaluation and inference with per-bin thresholds after observing multimodal interval collapse.</a:t>
            </a:r>
          </a:p>
        </p:txBody>
      </p:sp>
      <p:sp>
        <p:nvSpPr>
          <p:cNvPr id="38" name="hanmac-rail-rule">
            <a:extLst xmlns:a="http://schemas.openxmlformats.org/drawingml/2006/main">
              <a:ext uri="{FF2B5EF4-FFF2-40B4-BE49-F238E27FC236}">
                <a16:creationId xmlns:a16="http://schemas.microsoft.com/office/drawing/2014/main" id="{D647CDF9-9B0F-4BDF-A649-0BBD761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766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hanmac-kpi">
            <a:extLst xmlns:a="http://schemas.openxmlformats.org/drawingml/2006/main">
              <a:ext uri="{FF2B5EF4-FFF2-40B4-BE49-F238E27FC236}">
                <a16:creationId xmlns:a16="http://schemas.microsoft.com/office/drawing/2014/main" id="{A434B900-0C13-4B7C-8E32-CCD6E686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719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≈30%</a:t>
            </a:r>
          </a:p>
        </p:txBody>
      </p:sp>
      <p:sp>
        <p:nvSpPr>
          <p:cNvPr id="40" name="hanmac-kpi-copy">
            <a:extLst xmlns:a="http://schemas.openxmlformats.org/drawingml/2006/main">
              <a:ext uri="{FF2B5EF4-FFF2-40B4-BE49-F238E27FC236}">
                <a16:creationId xmlns:a16="http://schemas.microsoft.com/office/drawing/2014/main" id="{E664498B-F428-4B12-9F34-60B84EC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00525"/>
            <a:ext cx="1685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Internal KPI improvement over the prior system</a:t>
            </a:r>
          </a:p>
        </p:txBody>
      </p:sp>
    </p:spTree>
    <p:extLst>
      <p:ext uri="{BB962C8B-B14F-4D97-AF65-F5344CB8AC3E}">
        <p14:creationId xmlns:p14="http://schemas.microsoft.com/office/powerpoint/2010/main" val="896035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7">
            <a:extLst xmlns:a="http://schemas.openxmlformats.org/drawingml/2006/main">
              <a:ext uri="{FF2B5EF4-FFF2-40B4-BE49-F238E27FC236}">
                <a16:creationId xmlns:a16="http://schemas.microsoft.com/office/drawing/2014/main" id="{6D7CCE40-F74D-449C-9127-CDE8763B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PROJECTS · AGENTIC AI · RETRIEVAL · PRODUCT SYSTEMS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1FF3E41-4CD2-4DDD-BA00-967CC3EF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| Search and knowledge stay traceable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422EBC25-5CEE-4D9B-B79F-149D182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C2CDAAF1-99E1-4822-9984-2AD12EDE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surf-demo-frame">
            <a:extLst xmlns:a="http://schemas.openxmlformats.org/drawingml/2006/main">
              <a:ext uri="{FF2B5EF4-FFF2-40B4-BE49-F238E27FC236}">
                <a16:creationId xmlns:a16="http://schemas.microsoft.com/office/drawing/2014/main" id="{BC7D9BD6-80F0-4BFD-8EEF-651C6C7D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54959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1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9c44de2f4d9c"/>
          <a:stretch xmlns:a="http://schemas.openxmlformats.org/drawingml/2006/main"/>
        </p:blipFill>
        <p:spPr>
          <a:xfrm xmlns:a="http://schemas.openxmlformats.org/drawingml/2006/main">
            <a:off x="938201" y="1524000"/>
            <a:ext cx="4400574" cy="2781300"/>
          </a:xfrm>
          <a:prstGeom xmlns:a="http://schemas.openxmlformats.org/drawingml/2006/main" prst="rect">
            <a:avLst/>
          </a:prstGeom>
        </p:spPr>
      </p:pic>
      <p:sp>
        <p:nvSpPr>
          <p:cNvPr id="7" name="monogram-dashboard-frame">
            <a:extLst xmlns:a="http://schemas.openxmlformats.org/drawingml/2006/main">
              <a:ext uri="{FF2B5EF4-FFF2-40B4-BE49-F238E27FC236}">
                <a16:creationId xmlns:a16="http://schemas.microsoft.com/office/drawing/2014/main" id="{72A2C062-77B7-4480-A80F-8574AD92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55340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1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6c863736d4c7d"/>
          <a:stretch xmlns:a="http://schemas.openxmlformats.org/drawingml/2006/main"/>
        </p:blipFill>
        <p:spPr>
          <a:xfrm xmlns:a="http://schemas.openxmlformats.org/drawingml/2006/main">
            <a:off x="6267450" y="1755933"/>
            <a:ext cx="5534025" cy="2317434"/>
          </a:xfrm>
          <a:prstGeom xmlns:a="http://schemas.openxmlformats.org/drawingml/2006/main" prst="rect">
            <a:avLst/>
          </a:prstGeom>
        </p:spPr>
      </p:pic>
      <p:sp>
        <p:nvSpPr>
          <p:cNvPr id="9" name="surf-title">
            <a:extLst xmlns:a="http://schemas.openxmlformats.org/drawingml/2006/main">
              <a:ext uri="{FF2B5EF4-FFF2-40B4-BE49-F238E27FC236}">
                <a16:creationId xmlns:a16="http://schemas.microsoft.com/office/drawing/2014/main" id="{E20A1C08-76AC-4C9B-825C-5C0FCDE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624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google-surf-mcp</a:t>
            </a:r>
          </a:p>
        </p:txBody>
      </p:sp>
      <p:sp>
        <p:nvSpPr>
          <p:cNvPr id="10" name="surf-metric">
            <a:extLst xmlns:a="http://schemas.openxmlformats.org/drawingml/2006/main">
              <a:ext uri="{FF2B5EF4-FFF2-40B4-BE49-F238E27FC236}">
                <a16:creationId xmlns:a16="http://schemas.microsoft.com/office/drawing/2014/main" id="{4615D055-EFD1-4BBB-9B54-71C24354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91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Top 1% · 900 / 95,000 · 270+ stars</a:t>
            </a:r>
          </a:p>
        </p:txBody>
      </p:sp>
      <p:sp>
        <p:nvSpPr>
          <p:cNvPr id="11" name="surf-copy">
            <a:extLst xmlns:a="http://schemas.openxmlformats.org/drawingml/2006/main">
              <a:ext uri="{FF2B5EF4-FFF2-40B4-BE49-F238E27FC236}">
                <a16:creationId xmlns:a16="http://schemas.microsoft.com/office/drawing/2014/main" id="{7BF1A9EB-58D9-47E7-BBB0-547EC1F1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38725"/>
            <a:ext cx="5495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Five MCP tools unify Google Search, parallel search, HTML extraction, spatial PDF parsing, and health checks with SSRF defense and telemetry.</a:t>
            </a:r>
          </a:p>
        </p:txBody>
      </p:sp>
      <p:sp>
        <p:nvSpPr>
          <p:cNvPr id="12" name="monogram-title">
            <a:extLst xmlns:a="http://schemas.openxmlformats.org/drawingml/2006/main">
              <a:ext uri="{FF2B5EF4-FFF2-40B4-BE49-F238E27FC236}">
                <a16:creationId xmlns:a16="http://schemas.microsoft.com/office/drawing/2014/main" id="{AD78A428-9BD9-4E3F-99F7-3C62461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Monogram</a:t>
            </a:r>
          </a:p>
        </p:txBody>
      </p:sp>
      <p:sp>
        <p:nvSpPr>
          <p:cNvPr id="13" name="monogram-metric">
            <a:extLst xmlns:a="http://schemas.openxmlformats.org/drawingml/2006/main">
              <a:ext uri="{FF2B5EF4-FFF2-40B4-BE49-F238E27FC236}">
                <a16:creationId xmlns:a16="http://schemas.microsoft.com/office/drawing/2014/main" id="{5B2504A2-C42F-4804-B19A-BCA9F12D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91050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5-stage pipeline</a:t>
            </a:r>
          </a:p>
        </p:txBody>
      </p:sp>
      <p:sp>
        <p:nvSpPr>
          <p:cNvPr id="14" name="monogram-copy">
            <a:extLst xmlns:a="http://schemas.openxmlformats.org/drawingml/2006/main">
              <a:ext uri="{FF2B5EF4-FFF2-40B4-BE49-F238E27FC236}">
                <a16:creationId xmlns:a16="http://schemas.microsoft.com/office/drawing/2014/main" id="{27B7F3FC-458B-4C47-A20C-9AA24FF2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38725"/>
            <a:ext cx="5534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A Git-backed Markdown knowledge base combines ONNX INT8 embeddings, a sharded vector index, BM25, RRF, Personalized PageRank, and MMR.</a:t>
            </a:r>
          </a:p>
        </p:txBody>
      </p:sp>
    </p:spTree>
    <p:extLst>
      <p:ext uri="{BB962C8B-B14F-4D97-AF65-F5344CB8AC3E}">
        <p14:creationId xmlns:p14="http://schemas.microsoft.com/office/powerpoint/2010/main" val="664917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8">
            <a:extLst xmlns:a="http://schemas.openxmlformats.org/drawingml/2006/main">
              <a:ext uri="{FF2B5EF4-FFF2-40B4-BE49-F238E27FC236}">
                <a16:creationId xmlns:a16="http://schemas.microsoft.com/office/drawing/2014/main" id="{9081B18C-5101-4C95-965A-7C7ABB1F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PROJECTS · AGENTIC AI · RETRIEVAL · PRODUCT SYSTEMS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97E22F2-AA48-448D-81AF-4062D6D8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| Agents persist state and gate actions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225EB9AF-13D8-4332-B0EE-2B14377B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D7C3872-01AB-4783-B927-C7C3A5EF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bau-screenshot-frame">
            <a:extLst xmlns:a="http://schemas.openxmlformats.org/drawingml/2006/main">
              <a:ext uri="{FF2B5EF4-FFF2-40B4-BE49-F238E27FC236}">
                <a16:creationId xmlns:a16="http://schemas.microsoft.com/office/drawing/2014/main" id="{3B37F754-4E58-4D97-98C8-7AAEBEE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90675"/>
            <a:ext cx="547687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1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7a5bd2e214bd4"/>
          <a:stretch xmlns:a="http://schemas.openxmlformats.org/drawingml/2006/main"/>
        </p:blipFill>
        <p:spPr>
          <a:xfrm xmlns:a="http://schemas.openxmlformats.org/drawingml/2006/main">
            <a:off x="763134" y="1590675"/>
            <a:ext cx="4731657" cy="3105150"/>
          </a:xfrm>
          <a:prstGeom xmlns:a="http://schemas.openxmlformats.org/drawingml/2006/main" prst="rect">
            <a:avLst/>
          </a:prstGeom>
        </p:spPr>
      </p:pic>
      <p:sp>
        <p:nvSpPr>
          <p:cNvPr id="7" name="bau-caption">
            <a:extLst xmlns:a="http://schemas.openxmlformats.org/drawingml/2006/main">
              <a:ext uri="{FF2B5EF4-FFF2-40B4-BE49-F238E27FC236}">
                <a16:creationId xmlns:a16="http://schemas.microsoft.com/office/drawing/2014/main" id="{1094A81C-69A4-40C5-9212-B6B30BCE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Native capture · synthetic fixture</a:t>
            </a:r>
          </a:p>
        </p:txBody>
      </p:sp>
      <p:sp>
        <p:nvSpPr>
          <p:cNvPr id="8" name="bau-title">
            <a:extLst xmlns:a="http://schemas.openxmlformats.org/drawingml/2006/main">
              <a:ext uri="{FF2B5EF4-FFF2-40B4-BE49-F238E27FC236}">
                <a16:creationId xmlns:a16="http://schemas.microsoft.com/office/drawing/2014/main" id="{CD06E83E-E5D4-4ED0-B74C-CED087C3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95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Bau Browser</a:t>
            </a:r>
          </a:p>
        </p:txBody>
      </p:sp>
      <p:sp>
        <p:nvSpPr>
          <p:cNvPr id="9" name="bau-copy">
            <a:extLst xmlns:a="http://schemas.openxmlformats.org/drawingml/2006/main">
              <a:ext uri="{FF2B5EF4-FFF2-40B4-BE49-F238E27FC236}">
                <a16:creationId xmlns:a16="http://schemas.microsoft.com/office/drawing/2014/main" id="{308B51BD-1F45-4ACE-8FC8-5C70DF9D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Electron 43 browser surface with origin- and verb-scoped propose → approve → execute controls, MCP, encrypted sync, and prompt-injection testing.</a:t>
            </a:r>
          </a:p>
        </p:txBody>
      </p:sp>
      <p:sp>
        <p:nvSpPr>
          <p:cNvPr id="10" name="travel-label">
            <a:extLst xmlns:a="http://schemas.openxmlformats.org/drawingml/2006/main">
              <a:ext uri="{FF2B5EF4-FFF2-40B4-BE49-F238E27FC236}">
                <a16:creationId xmlns:a16="http://schemas.microsoft.com/office/drawing/2014/main" id="{5C28D36C-DF99-452F-A1BD-7B1BAC0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LANGGRAPH TRAVEL AGENT</a:t>
            </a:r>
          </a:p>
        </p:txBody>
      </p:sp>
      <p:sp>
        <p:nvSpPr>
          <p:cNvPr id="11" name="travel-arrow-1-line">
            <a:extLst xmlns:a="http://schemas.openxmlformats.org/drawingml/2006/main">
              <a:ext uri="{FF2B5EF4-FFF2-40B4-BE49-F238E27FC236}">
                <a16:creationId xmlns:a16="http://schemas.microsoft.com/office/drawing/2014/main" id="{0110E420-5C96-4BB6-A1BB-9B683DD7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travel-arrow-1-head">
            <a:extLst xmlns:a="http://schemas.openxmlformats.org/drawingml/2006/main">
              <a:ext uri="{FF2B5EF4-FFF2-40B4-BE49-F238E27FC236}">
                <a16:creationId xmlns:a16="http://schemas.microsoft.com/office/drawing/2014/main" id="{B6AC8AA8-FF5B-4003-97CA-EE6B1706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57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travel-arrow-2-line">
            <a:extLst xmlns:a="http://schemas.openxmlformats.org/drawingml/2006/main">
              <a:ext uri="{FF2B5EF4-FFF2-40B4-BE49-F238E27FC236}">
                <a16:creationId xmlns:a16="http://schemas.microsoft.com/office/drawing/2014/main" id="{FBF20087-73B0-4195-BF1F-32C5705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051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travel-arrow-2-head">
            <a:extLst xmlns:a="http://schemas.openxmlformats.org/drawingml/2006/main">
              <a:ext uri="{FF2B5EF4-FFF2-40B4-BE49-F238E27FC236}">
                <a16:creationId xmlns:a16="http://schemas.microsoft.com/office/drawing/2014/main" id="{3DD9453E-68D0-49A0-AE67-7FC8D33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57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ravel-arrow-3-line">
            <a:extLst xmlns:a="http://schemas.openxmlformats.org/drawingml/2006/main">
              <a:ext uri="{FF2B5EF4-FFF2-40B4-BE49-F238E27FC236}">
                <a16:creationId xmlns:a16="http://schemas.microsoft.com/office/drawing/2014/main" id="{89CF1BC9-B2FD-4B4E-A3DC-F16A04CB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051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6" name="travel-arrow-3-head">
            <a:extLst xmlns:a="http://schemas.openxmlformats.org/drawingml/2006/main">
              <a:ext uri="{FF2B5EF4-FFF2-40B4-BE49-F238E27FC236}">
                <a16:creationId xmlns:a16="http://schemas.microsoft.com/office/drawing/2014/main" id="{84D0E1A6-215A-406D-9218-FD43CED8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57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travel-input">
            <a:extLst xmlns:a="http://schemas.openxmlformats.org/drawingml/2006/main">
              <a:ext uri="{FF2B5EF4-FFF2-40B4-BE49-F238E27FC236}">
                <a16:creationId xmlns:a16="http://schemas.microsoft.com/office/drawing/2014/main" id="{3F598B0D-36B8-492E-9A4D-978A30F1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066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ravel-input-text">
            <a:extLst xmlns:a="http://schemas.openxmlformats.org/drawingml/2006/main">
              <a:ext uri="{FF2B5EF4-FFF2-40B4-BE49-F238E27FC236}">
                <a16:creationId xmlns:a16="http://schemas.microsoft.com/office/drawing/2014/main" id="{AFC0B302-C381-4A14-9795-8CBCD340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· schedule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preferences</a:t>
            </a:r>
          </a:p>
        </p:txBody>
      </p:sp>
      <p:sp>
        <p:nvSpPr>
          <p:cNvPr id="19" name="travel-state">
            <a:extLst xmlns:a="http://schemas.openxmlformats.org/drawingml/2006/main">
              <a:ext uri="{FF2B5EF4-FFF2-40B4-BE49-F238E27FC236}">
                <a16:creationId xmlns:a16="http://schemas.microsoft.com/office/drawing/2014/main" id="{08D3C8E3-0BFB-415D-8C61-82DD96C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1066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travel-state-text">
            <a:extLst xmlns:a="http://schemas.openxmlformats.org/drawingml/2006/main">
              <a:ext uri="{FF2B5EF4-FFF2-40B4-BE49-F238E27FC236}">
                <a16:creationId xmlns:a16="http://schemas.microsoft.com/office/drawing/2014/main" id="{F14C0C25-8399-4CF1-A494-A92BD7C2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LangGraph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1" name="travel-tools">
            <a:extLst xmlns:a="http://schemas.openxmlformats.org/drawingml/2006/main">
              <a:ext uri="{FF2B5EF4-FFF2-40B4-BE49-F238E27FC236}">
                <a16:creationId xmlns:a16="http://schemas.microsoft.com/office/drawing/2014/main" id="{FDC73D7A-69B4-4077-9550-50D72AF3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1066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ravel-tools-text">
            <a:extLst xmlns:a="http://schemas.openxmlformats.org/drawingml/2006/main">
              <a:ext uri="{FF2B5EF4-FFF2-40B4-BE49-F238E27FC236}">
                <a16:creationId xmlns:a16="http://schemas.microsoft.com/office/drawing/2014/main" id="{45D66A0F-9E2F-4E74-9797-4F67F842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APIs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async</a:t>
            </a:r>
          </a:p>
        </p:txBody>
      </p:sp>
      <p:sp>
        <p:nvSpPr>
          <p:cNvPr id="23" name="travel-options">
            <a:extLst xmlns:a="http://schemas.openxmlformats.org/drawingml/2006/main">
              <a:ext uri="{FF2B5EF4-FFF2-40B4-BE49-F238E27FC236}">
                <a16:creationId xmlns:a16="http://schemas.microsoft.com/office/drawing/2014/main" id="{071EF925-D5CF-4E9F-9A49-4BDB60D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66950"/>
            <a:ext cx="1066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ravel-options-text">
            <a:extLst xmlns:a="http://schemas.openxmlformats.org/drawingml/2006/main">
              <a:ext uri="{FF2B5EF4-FFF2-40B4-BE49-F238E27FC236}">
                <a16:creationId xmlns:a16="http://schemas.microsoft.com/office/drawing/2014/main" id="{7C44386D-F5EE-422B-B5EB-ACBE4D6F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431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3-tier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options</a:t>
            </a:r>
          </a:p>
        </p:txBody>
      </p:sp>
      <p:sp>
        <p:nvSpPr>
          <p:cNvPr id="25" name="travel-down-arrow-line">
            <a:extLst xmlns:a="http://schemas.openxmlformats.org/drawingml/2006/main">
              <a:ext uri="{FF2B5EF4-FFF2-40B4-BE49-F238E27FC236}">
                <a16:creationId xmlns:a16="http://schemas.microsoft.com/office/drawing/2014/main" id="{1CE3D84C-E200-4592-95C8-1E641632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861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travel-down-arrow-head">
            <a:extLst xmlns:a="http://schemas.openxmlformats.org/drawingml/2006/main">
              <a:ext uri="{FF2B5EF4-FFF2-40B4-BE49-F238E27FC236}">
                <a16:creationId xmlns:a16="http://schemas.microsoft.com/office/drawing/2014/main" id="{0FE35650-DC32-4741-B8C3-4D38B350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86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travel-checkpoint">
            <a:extLst xmlns:a="http://schemas.openxmlformats.org/drawingml/2006/main">
              <a:ext uri="{FF2B5EF4-FFF2-40B4-BE49-F238E27FC236}">
                <a16:creationId xmlns:a16="http://schemas.microsoft.com/office/drawing/2014/main" id="{79B8F8E2-A304-4444-922E-A6215FE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33850"/>
            <a:ext cx="3371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ravel-checkpoint-text">
            <a:extLst xmlns:a="http://schemas.openxmlformats.org/drawingml/2006/main">
              <a:ext uri="{FF2B5EF4-FFF2-40B4-BE49-F238E27FC236}">
                <a16:creationId xmlns:a16="http://schemas.microsoft.com/office/drawing/2014/main" id="{929D3DAB-DCC0-4348-8BDE-E01C4F10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1005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FastAPI + Redis checkpoints</a:t>
            </a:r>
          </a:p>
        </p:txBody>
      </p:sp>
      <p:sp>
        <p:nvSpPr>
          <p:cNvPr id="29" name="travel-approval-arrow-line">
            <a:extLst xmlns:a="http://schemas.openxmlformats.org/drawingml/2006/main">
              <a:ext uri="{FF2B5EF4-FFF2-40B4-BE49-F238E27FC236}">
                <a16:creationId xmlns:a16="http://schemas.microsoft.com/office/drawing/2014/main" id="{CDEC7AC1-4067-45CF-A4C9-3C84EC6E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19650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travel-approval-arrow-head">
            <a:extLst xmlns:a="http://schemas.openxmlformats.org/drawingml/2006/main">
              <a:ext uri="{FF2B5EF4-FFF2-40B4-BE49-F238E27FC236}">
                <a16:creationId xmlns:a16="http://schemas.microsoft.com/office/drawing/2014/main" id="{787A5C70-4FEB-42DF-B317-15853F6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38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1" name="travel-approval">
            <a:extLst xmlns:a="http://schemas.openxmlformats.org/drawingml/2006/main">
              <a:ext uri="{FF2B5EF4-FFF2-40B4-BE49-F238E27FC236}">
                <a16:creationId xmlns:a16="http://schemas.microsoft.com/office/drawing/2014/main" id="{112667D1-A3FC-4B22-86D3-970C0CF0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286375"/>
            <a:ext cx="3371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travel-approval-text">
            <a:extLst xmlns:a="http://schemas.openxmlformats.org/drawingml/2006/main">
              <a:ext uri="{FF2B5EF4-FFF2-40B4-BE49-F238E27FC236}">
                <a16:creationId xmlns:a16="http://schemas.microsoft.com/office/drawing/2014/main" id="{3D8FC3D3-281D-4880-8E13-B88BE68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3625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approval → CRM / SMS</a:t>
            </a:r>
          </a:p>
        </p:txBody>
      </p:sp>
      <p:sp>
        <p:nvSpPr>
          <p:cNvPr id="33" name="travel-footer">
            <a:extLst xmlns:a="http://schemas.openxmlformats.org/drawingml/2006/main">
              <a:ext uri="{FF2B5EF4-FFF2-40B4-BE49-F238E27FC236}">
                <a16:creationId xmlns:a16="http://schemas.microsoft.com/office/drawing/2014/main" id="{2E4FFB4F-B9CD-4361-87AD-6D57086D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1245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Delivered to a U.S. travel agency · resumable execution · external messages only after approval</a:t>
            </a:r>
          </a:p>
        </p:txBody>
      </p:sp>
    </p:spTree>
    <p:extLst>
      <p:ext uri="{BB962C8B-B14F-4D97-AF65-F5344CB8AC3E}">
        <p14:creationId xmlns:p14="http://schemas.microsoft.com/office/powerpoint/2010/main" val="796279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eyebrow-9">
            <a:extLst xmlns:a="http://schemas.openxmlformats.org/drawingml/2006/main">
              <a:ext uri="{FF2B5EF4-FFF2-40B4-BE49-F238E27FC236}">
                <a16:creationId xmlns:a16="http://schemas.microsoft.com/office/drawing/2014/main" id="{A603AE08-0B6D-4D60-9023-F3861F39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PROJECTS · AGENT EVALUATION · DECISION SYSTEMS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5D8FDEF-A57B-4715-AC37-974E2BF8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 | Evaluation and execution are different problems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59FB1E00-15E2-4FF9-A2DD-FBAFE1CA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4C3820F0-E4FC-44BF-A201-15E9099F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group-b-divider">
            <a:extLst xmlns:a="http://schemas.openxmlformats.org/drawingml/2006/main">
              <a:ext uri="{FF2B5EF4-FFF2-40B4-BE49-F238E27FC236}">
                <a16:creationId xmlns:a16="http://schemas.microsoft.com/office/drawing/2014/main" id="{95FEAF21-CB27-4DE1-A1F5-F51F31C2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vargo-title">
            <a:extLst xmlns:a="http://schemas.openxmlformats.org/drawingml/2006/main">
              <a:ext uri="{FF2B5EF4-FFF2-40B4-BE49-F238E27FC236}">
                <a16:creationId xmlns:a16="http://schemas.microsoft.com/office/drawing/2014/main" id="{5A449C46-1BD9-41D5-B0E2-CA08CCEF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Vargo</a:t>
            </a:r>
          </a:p>
        </p:txBody>
      </p:sp>
      <p:sp>
        <p:nvSpPr>
          <p:cNvPr id="7" name="vargo-oracle-label">
            <a:extLst xmlns:a="http://schemas.openxmlformats.org/drawingml/2006/main">
              <a:ext uri="{FF2B5EF4-FFF2-40B4-BE49-F238E27FC236}">
                <a16:creationId xmlns:a16="http://schemas.microsoft.com/office/drawing/2014/main" id="{1C392D13-2FA8-4F96-879E-718AB5A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POST-HOC ORACLE</a:t>
            </a:r>
          </a:p>
        </p:txBody>
      </p:sp>
      <p:sp>
        <p:nvSpPr>
          <p:cNvPr id="8" name="vargo-a-arrow-line">
            <a:extLst xmlns:a="http://schemas.openxmlformats.org/drawingml/2006/main">
              <a:ext uri="{FF2B5EF4-FFF2-40B4-BE49-F238E27FC236}">
                <a16:creationId xmlns:a16="http://schemas.microsoft.com/office/drawing/2014/main" id="{EE27A5B5-4184-4605-BAF3-5684D3CF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6705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vargo-a-arrow-head">
            <a:extLst xmlns:a="http://schemas.openxmlformats.org/drawingml/2006/main">
              <a:ext uri="{FF2B5EF4-FFF2-40B4-BE49-F238E27FC236}">
                <a16:creationId xmlns:a16="http://schemas.microsoft.com/office/drawing/2014/main" id="{EC3A816B-C97C-42B2-BFF6-D34B916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19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vargo-b-arrow-line">
            <a:extLst xmlns:a="http://schemas.openxmlformats.org/drawingml/2006/main">
              <a:ext uri="{FF2B5EF4-FFF2-40B4-BE49-F238E27FC236}">
                <a16:creationId xmlns:a16="http://schemas.microsoft.com/office/drawing/2014/main" id="{B896875F-7284-4059-881A-DDA95222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vargo-b-arrow-head">
            <a:extLst xmlns:a="http://schemas.openxmlformats.org/drawingml/2006/main">
              <a:ext uri="{FF2B5EF4-FFF2-40B4-BE49-F238E27FC236}">
                <a16:creationId xmlns:a16="http://schemas.microsoft.com/office/drawing/2014/main" id="{8F641F3F-9277-41D7-BB28-2A7AD879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vargo-c-arrow-line">
            <a:extLst xmlns:a="http://schemas.openxmlformats.org/drawingml/2006/main">
              <a:ext uri="{FF2B5EF4-FFF2-40B4-BE49-F238E27FC236}">
                <a16:creationId xmlns:a16="http://schemas.microsoft.com/office/drawing/2014/main" id="{4D2834C6-01DB-4BAB-BC02-13A697F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6245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vargo-c-arrow-head">
            <a:extLst xmlns:a="http://schemas.openxmlformats.org/drawingml/2006/main">
              <a:ext uri="{FF2B5EF4-FFF2-40B4-BE49-F238E27FC236}">
                <a16:creationId xmlns:a16="http://schemas.microsoft.com/office/drawing/2014/main" id="{EE5068A6-176B-4F9C-96F3-986BDD2D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148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vargo-a">
            <a:extLst xmlns:a="http://schemas.openxmlformats.org/drawingml/2006/main">
              <a:ext uri="{FF2B5EF4-FFF2-40B4-BE49-F238E27FC236}">
                <a16:creationId xmlns:a16="http://schemas.microsoft.com/office/drawing/2014/main" id="{9F24538E-ADEC-4947-B85D-18043923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0987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vargo-a-text">
            <a:extLst xmlns:a="http://schemas.openxmlformats.org/drawingml/2006/main">
              <a:ext uri="{FF2B5EF4-FFF2-40B4-BE49-F238E27FC236}">
                <a16:creationId xmlns:a16="http://schemas.microsoft.com/office/drawing/2014/main" id="{EBE7EE09-1DE5-4A31-B247-C34F822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86075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Config A</a:t>
            </a:r>
          </a:p>
        </p:txBody>
      </p:sp>
      <p:sp>
        <p:nvSpPr>
          <p:cNvPr id="16" name="vargo-b">
            <a:extLst xmlns:a="http://schemas.openxmlformats.org/drawingml/2006/main">
              <a:ext uri="{FF2B5EF4-FFF2-40B4-BE49-F238E27FC236}">
                <a16:creationId xmlns:a16="http://schemas.microsoft.com/office/drawing/2014/main" id="{54B61AE7-925B-447F-969E-328B9418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5757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vargo-b-text">
            <a:extLst xmlns:a="http://schemas.openxmlformats.org/drawingml/2006/main">
              <a:ext uri="{FF2B5EF4-FFF2-40B4-BE49-F238E27FC236}">
                <a16:creationId xmlns:a16="http://schemas.microsoft.com/office/drawing/2014/main" id="{61420E56-2B53-4F8C-8F3B-8F49ABA5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33775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Config B</a:t>
            </a:r>
          </a:p>
        </p:txBody>
      </p:sp>
      <p:sp>
        <p:nvSpPr>
          <p:cNvPr id="18" name="vargo-c">
            <a:extLst xmlns:a="http://schemas.openxmlformats.org/drawingml/2006/main">
              <a:ext uri="{FF2B5EF4-FFF2-40B4-BE49-F238E27FC236}">
                <a16:creationId xmlns:a16="http://schemas.microsoft.com/office/drawing/2014/main" id="{04ADA3EB-7777-401E-AD0D-1C9A6627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0527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vargo-c-text">
            <a:extLst xmlns:a="http://schemas.openxmlformats.org/drawingml/2006/main">
              <a:ext uri="{FF2B5EF4-FFF2-40B4-BE49-F238E27FC236}">
                <a16:creationId xmlns:a16="http://schemas.microsoft.com/office/drawing/2014/main" id="{90C1FCD9-930F-4E51-B06C-3BDFA71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81475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Config C</a:t>
            </a:r>
          </a:p>
        </p:txBody>
      </p:sp>
      <p:sp>
        <p:nvSpPr>
          <p:cNvPr id="20" name="vargo-observed">
            <a:extLst xmlns:a="http://schemas.openxmlformats.org/drawingml/2006/main">
              <a:ext uri="{FF2B5EF4-FFF2-40B4-BE49-F238E27FC236}">
                <a16:creationId xmlns:a16="http://schemas.microsoft.com/office/drawing/2014/main" id="{4F63D9E9-9742-4C5D-9588-B9F1427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31242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1" name="vargo-best">
            <a:extLst xmlns:a="http://schemas.openxmlformats.org/drawingml/2006/main">
              <a:ext uri="{FF2B5EF4-FFF2-40B4-BE49-F238E27FC236}">
                <a16:creationId xmlns:a16="http://schemas.microsoft.com/office/drawing/2014/main" id="{102D866C-2048-405A-B488-03BC55DB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146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best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 task</a:t>
            </a:r>
          </a:p>
        </p:txBody>
      </p:sp>
      <p:sp>
        <p:nvSpPr>
          <p:cNvPr id="22" name="vargo-gap">
            <a:extLst xmlns:a="http://schemas.openxmlformats.org/drawingml/2006/main">
              <a:ext uri="{FF2B5EF4-FFF2-40B4-BE49-F238E27FC236}">
                <a16:creationId xmlns:a16="http://schemas.microsoft.com/office/drawing/2014/main" id="{3E78781A-134F-4B3A-9968-D38A77DC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7242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+29 pp</a:t>
            </a:r>
          </a:p>
        </p:txBody>
      </p:sp>
      <p:sp>
        <p:nvSpPr>
          <p:cNvPr id="23" name="vargo-gap-copy">
            <a:extLst xmlns:a="http://schemas.openxmlformats.org/drawingml/2006/main">
              <a:ext uri="{FF2B5EF4-FFF2-40B4-BE49-F238E27FC236}">
                <a16:creationId xmlns:a16="http://schemas.microsoft.com/office/drawing/2014/main" id="{CD13C2ED-5923-44EA-A0DE-8733ACC7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24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up to, versus one fixed configuration</a:t>
            </a:r>
          </a:p>
        </p:txBody>
      </p:sp>
      <p:sp>
        <p:nvSpPr>
          <p:cNvPr id="24" name="vargo-falsifier-rule">
            <a:extLst xmlns:a="http://schemas.openxmlformats.org/drawingml/2006/main">
              <a:ext uri="{FF2B5EF4-FFF2-40B4-BE49-F238E27FC236}">
                <a16:creationId xmlns:a16="http://schemas.microsoft.com/office/drawing/2014/main" id="{004EB44F-95AF-4A5A-826C-4E4BE3B4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48250"/>
            <a:ext cx="511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vargo-negative">
            <a:extLst xmlns:a="http://schemas.openxmlformats.org/drawingml/2006/main">
              <a:ext uri="{FF2B5EF4-FFF2-40B4-BE49-F238E27FC236}">
                <a16:creationId xmlns:a16="http://schemas.microsoft.com/office/drawing/2014/main" id="{3AD1C2BC-FF7F-433B-8741-9284E540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67325"/>
            <a:ext cx="5114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Pre-execution task descriptions and difficulty did not identify the optimal configuration.</a:t>
            </a:r>
          </a:p>
        </p:txBody>
      </p:sp>
      <p:sp>
        <p:nvSpPr>
          <p:cNvPr id="26" name="emh-title">
            <a:extLst xmlns:a="http://schemas.openxmlformats.org/drawingml/2006/main">
              <a:ext uri="{FF2B5EF4-FFF2-40B4-BE49-F238E27FC236}">
                <a16:creationId xmlns:a16="http://schemas.microsoft.com/office/drawing/2014/main" id="{FB1CB231-D563-4B04-B3FB-0C960295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81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EMH Agent</a:t>
            </a:r>
          </a:p>
        </p:txBody>
      </p:sp>
      <p:sp>
        <p:nvSpPr>
          <p:cNvPr id="27" name="emh-label">
            <a:extLst xmlns:a="http://schemas.openxmlformats.org/drawingml/2006/main">
              <a:ext uri="{FF2B5EF4-FFF2-40B4-BE49-F238E27FC236}">
                <a16:creationId xmlns:a16="http://schemas.microsoft.com/office/drawing/2014/main" id="{9285748E-6794-4AC4-A11C-C99E8E60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57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POINT-IN-TIME DECISION PATH</a:t>
            </a:r>
          </a:p>
        </p:txBody>
      </p:sp>
      <p:sp>
        <p:nvSpPr>
          <p:cNvPr id="28" name="emh-arrow-0-line">
            <a:extLst xmlns:a="http://schemas.openxmlformats.org/drawingml/2006/main">
              <a:ext uri="{FF2B5EF4-FFF2-40B4-BE49-F238E27FC236}">
                <a16:creationId xmlns:a16="http://schemas.microsoft.com/office/drawing/2014/main" id="{EFA112F9-D75C-4822-BC69-4B0B92EA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860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emh-arrow-0-head">
            <a:extLst xmlns:a="http://schemas.openxmlformats.org/drawingml/2006/main">
              <a:ext uri="{FF2B5EF4-FFF2-40B4-BE49-F238E27FC236}">
                <a16:creationId xmlns:a16="http://schemas.microsoft.com/office/drawing/2014/main" id="{2477CE14-5EA2-46AB-9CFD-E9403DFD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38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emh-arrow-1-line">
            <a:extLst xmlns:a="http://schemas.openxmlformats.org/drawingml/2006/main">
              <a:ext uri="{FF2B5EF4-FFF2-40B4-BE49-F238E27FC236}">
                <a16:creationId xmlns:a16="http://schemas.microsoft.com/office/drawing/2014/main" id="{DC20D1C9-46DE-4E53-9B49-42B225A5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860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1" name="emh-arrow-1-head">
            <a:extLst xmlns:a="http://schemas.openxmlformats.org/drawingml/2006/main">
              <a:ext uri="{FF2B5EF4-FFF2-40B4-BE49-F238E27FC236}">
                <a16:creationId xmlns:a16="http://schemas.microsoft.com/office/drawing/2014/main" id="{DD6252B7-B3CA-4137-B80B-7C067B12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emh-arrow-2-line">
            <a:extLst xmlns:a="http://schemas.openxmlformats.org/drawingml/2006/main">
              <a:ext uri="{FF2B5EF4-FFF2-40B4-BE49-F238E27FC236}">
                <a16:creationId xmlns:a16="http://schemas.microsoft.com/office/drawing/2014/main" id="{E61D2D35-3FBB-412D-B934-617A0CFD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860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3" name="emh-arrow-2-head">
            <a:extLst xmlns:a="http://schemas.openxmlformats.org/drawingml/2006/main">
              <a:ext uri="{FF2B5EF4-FFF2-40B4-BE49-F238E27FC236}">
                <a16:creationId xmlns:a16="http://schemas.microsoft.com/office/drawing/2014/main" id="{A73ABBE0-059D-453B-BF04-92884C25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38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4" name="emh-data">
            <a:extLst xmlns:a="http://schemas.openxmlformats.org/drawingml/2006/main">
              <a:ext uri="{FF2B5EF4-FFF2-40B4-BE49-F238E27FC236}">
                <a16:creationId xmlns:a16="http://schemas.microsoft.com/office/drawing/2014/main" id="{C2B8DFEC-D1EF-47E5-B63C-6D62487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62225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emh-data-text">
            <a:extLst xmlns:a="http://schemas.openxmlformats.org/drawingml/2006/main">
              <a:ext uri="{FF2B5EF4-FFF2-40B4-BE49-F238E27FC236}">
                <a16:creationId xmlns:a16="http://schemas.microsoft.com/office/drawing/2014/main" id="{5725D657-802F-40F5-9245-F27EE4E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384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PIT data</a:t>
            </a:r>
          </a:p>
        </p:txBody>
      </p:sp>
      <p:sp>
        <p:nvSpPr>
          <p:cNvPr id="36" name="emh-tqc">
            <a:extLst xmlns:a="http://schemas.openxmlformats.org/drawingml/2006/main">
              <a:ext uri="{FF2B5EF4-FFF2-40B4-BE49-F238E27FC236}">
                <a16:creationId xmlns:a16="http://schemas.microsoft.com/office/drawing/2014/main" id="{1ACB7379-FE19-4EB4-9814-640FEBD6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62225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7" name="emh-tqc-text">
            <a:extLst xmlns:a="http://schemas.openxmlformats.org/drawingml/2006/main">
              <a:ext uri="{FF2B5EF4-FFF2-40B4-BE49-F238E27FC236}">
                <a16:creationId xmlns:a16="http://schemas.microsoft.com/office/drawing/2014/main" id="{548F0C87-5927-4BDB-8E8F-7AB8FEC3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384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Trading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TQC</a:t>
            </a:r>
          </a:p>
        </p:txBody>
      </p:sp>
      <p:sp>
        <p:nvSpPr>
          <p:cNvPr id="38" name="emh-policy">
            <a:extLst xmlns:a="http://schemas.openxmlformats.org/drawingml/2006/main">
              <a:ext uri="{FF2B5EF4-FFF2-40B4-BE49-F238E27FC236}">
                <a16:creationId xmlns:a16="http://schemas.microsoft.com/office/drawing/2014/main" id="{932D1DD8-1A02-46AA-B26E-DDBDC0B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62225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emh-policy-text">
            <a:extLst xmlns:a="http://schemas.openxmlformats.org/drawingml/2006/main">
              <a:ext uri="{FF2B5EF4-FFF2-40B4-BE49-F238E27FC236}">
                <a16:creationId xmlns:a16="http://schemas.microsoft.com/office/drawing/2014/main" id="{8CD0AF6F-D349-4C63-963A-AA58E625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384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40" name="emh-human">
            <a:extLst xmlns:a="http://schemas.openxmlformats.org/drawingml/2006/main">
              <a:ext uri="{FF2B5EF4-FFF2-40B4-BE49-F238E27FC236}">
                <a16:creationId xmlns:a16="http://schemas.microsoft.com/office/drawing/2014/main" id="{F353330A-7072-443A-AFC7-2C5C59CD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62225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emh-human-text">
            <a:extLst xmlns:a="http://schemas.openxmlformats.org/drawingml/2006/main">
              <a:ext uri="{FF2B5EF4-FFF2-40B4-BE49-F238E27FC236}">
                <a16:creationId xmlns:a16="http://schemas.microsoft.com/office/drawing/2014/main" id="{498AF8E2-6196-4A44-AE87-FBBCC8B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6384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42" name="emh-execution-arrow-line">
            <a:extLst xmlns:a="http://schemas.openxmlformats.org/drawingml/2006/main">
              <a:ext uri="{FF2B5EF4-FFF2-40B4-BE49-F238E27FC236}">
                <a16:creationId xmlns:a16="http://schemas.microsoft.com/office/drawing/2014/main" id="{290F1B48-F11B-4FD7-AD02-B29B590A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4290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3" name="emh-execution-arrow-head">
            <a:extLst xmlns:a="http://schemas.openxmlformats.org/drawingml/2006/main">
              <a:ext uri="{FF2B5EF4-FFF2-40B4-BE49-F238E27FC236}">
                <a16:creationId xmlns:a16="http://schemas.microsoft.com/office/drawing/2014/main" id="{C3384331-EC18-4D06-87B2-F9A9AFB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48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4" name="emh-execution">
            <a:extLst xmlns:a="http://schemas.openxmlformats.org/drawingml/2006/main">
              <a:ext uri="{FF2B5EF4-FFF2-40B4-BE49-F238E27FC236}">
                <a16:creationId xmlns:a16="http://schemas.microsoft.com/office/drawing/2014/main" id="{2C914345-5F40-4654-81DB-213889B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95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emh-execution-text">
            <a:extLst xmlns:a="http://schemas.openxmlformats.org/drawingml/2006/main">
              <a:ext uri="{FF2B5EF4-FFF2-40B4-BE49-F238E27FC236}">
                <a16:creationId xmlns:a16="http://schemas.microsoft.com/office/drawing/2014/main" id="{5289FB1C-4355-4940-AF88-79342F07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7195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execution harness</a:t>
            </a:r>
          </a:p>
        </p:txBody>
      </p:sp>
      <p:sp>
        <p:nvSpPr>
          <p:cNvPr id="46" name="emh-return">
            <a:extLst xmlns:a="http://schemas.openxmlformats.org/drawingml/2006/main">
              <a:ext uri="{FF2B5EF4-FFF2-40B4-BE49-F238E27FC236}">
                <a16:creationId xmlns:a16="http://schemas.microsoft.com/office/drawing/2014/main" id="{960732B3-58B2-4294-932A-A2C124A6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387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+84.26 pp</a:t>
            </a:r>
          </a:p>
        </p:txBody>
      </p:sp>
      <p:sp>
        <p:nvSpPr>
          <p:cNvPr id="47" name="emh-return-copy">
            <a:extLst xmlns:a="http://schemas.openxmlformats.org/drawingml/2006/main">
              <a:ext uri="{FF2B5EF4-FFF2-40B4-BE49-F238E27FC236}">
                <a16:creationId xmlns:a16="http://schemas.microsoft.com/office/drawing/2014/main" id="{68C2AF19-7366-49C0-8CC1-79AAB16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721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vs S&amp;P 500 · 3 years</a:t>
            </a:r>
          </a:p>
        </p:txBody>
      </p:sp>
      <p:sp>
        <p:nvSpPr>
          <p:cNvPr id="48" name="emh-sharpe">
            <a:extLst xmlns:a="http://schemas.openxmlformats.org/drawingml/2006/main">
              <a:ext uri="{FF2B5EF4-FFF2-40B4-BE49-F238E27FC236}">
                <a16:creationId xmlns:a16="http://schemas.microsoft.com/office/drawing/2014/main" id="{717B241A-091C-4C0F-9BD5-80FE6DFA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387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+0.838</a:t>
            </a:r>
          </a:p>
        </p:txBody>
      </p:sp>
      <p:sp>
        <p:nvSpPr>
          <p:cNvPr id="49" name="emh-sharpe-copy">
            <a:extLst xmlns:a="http://schemas.openxmlformats.org/drawingml/2006/main">
              <a:ext uri="{FF2B5EF4-FFF2-40B4-BE49-F238E27FC236}">
                <a16:creationId xmlns:a16="http://schemas.microsoft.com/office/drawing/2014/main" id="{D900A5DD-7782-4A02-8494-87A00A54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572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Sharpe ratio</a:t>
            </a:r>
          </a:p>
        </p:txBody>
      </p:sp>
    </p:spTree>
    <p:extLst>
      <p:ext uri="{BB962C8B-B14F-4D97-AF65-F5344CB8AC3E}">
        <p14:creationId xmlns:p14="http://schemas.microsoft.com/office/powerpoint/2010/main" val="3681958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0">
            <a:extLst xmlns:a="http://schemas.openxmlformats.org/drawingml/2006/main">
              <a:ext uri="{FF2B5EF4-FFF2-40B4-BE49-F238E27FC236}">
                <a16:creationId xmlns:a16="http://schemas.microsoft.com/office/drawing/2014/main" id="{F2BE2509-5C7B-423D-AE8D-F6952A4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PROJECTS · COMPUTER VISION · CALIBRATION · RELIABILITY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BADC47F2-9D20-412D-9752-B785B8B6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 | WSSS improves only where disagreement is measurable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CAE78AD7-7100-43DA-8C58-8CF7A51A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AAED8026-9A60-4DCE-9B03-C90F5418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wsss-architecture-frame">
            <a:extLst xmlns:a="http://schemas.openxmlformats.org/drawingml/2006/main">
              <a:ext uri="{FF2B5EF4-FFF2-40B4-BE49-F238E27FC236}">
                <a16:creationId xmlns:a16="http://schemas.microsoft.com/office/drawing/2014/main" id="{80D723B1-1C66-4ED7-86FA-C2F3962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80581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1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83ed2354f480e"/>
          <a:stretch xmlns:a="http://schemas.openxmlformats.org/drawingml/2006/main"/>
        </p:blipFill>
        <p:spPr>
          <a:xfrm xmlns:a="http://schemas.openxmlformats.org/drawingml/2006/main">
            <a:off x="390525" y="1598407"/>
            <a:ext cx="8058150" cy="4394612"/>
          </a:xfrm>
          <a:prstGeom xmlns:a="http://schemas.openxmlformats.org/drawingml/2006/main" prst="rect">
            <a:avLst/>
          </a:prstGeom>
        </p:spPr>
      </p:pic>
      <p:sp>
        <p:nvSpPr>
          <p:cNvPr id="7" name="wsss-rail">
            <a:extLst xmlns:a="http://schemas.openxmlformats.org/drawingml/2006/main">
              <a:ext uri="{FF2B5EF4-FFF2-40B4-BE49-F238E27FC236}">
                <a16:creationId xmlns:a16="http://schemas.microsoft.com/office/drawing/2014/main" id="{3620C51F-6AC4-4372-BB8E-D0B293AA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581150"/>
            <a:ext cx="30289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wsss-denominator-label">
            <a:extLst xmlns:a="http://schemas.openxmlformats.org/drawingml/2006/main">
              <a:ext uri="{FF2B5EF4-FFF2-40B4-BE49-F238E27FC236}">
                <a16:creationId xmlns:a16="http://schemas.microsoft.com/office/drawing/2014/main" id="{C0473C29-7999-4636-A173-1A84C372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85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FULL COCO-VAL 2014</a:t>
            </a:r>
          </a:p>
        </p:txBody>
      </p:sp>
      <p:sp>
        <p:nvSpPr>
          <p:cNvPr id="9" name="wsss-miou">
            <a:extLst xmlns:a="http://schemas.openxmlformats.org/drawingml/2006/main">
              <a:ext uri="{FF2B5EF4-FFF2-40B4-BE49-F238E27FC236}">
                <a16:creationId xmlns:a16="http://schemas.microsoft.com/office/drawing/2014/main" id="{EDA1CC03-17FA-4D67-B39F-E9B4600F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57425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53.31%</a:t>
            </a:r>
          </a:p>
        </p:txBody>
      </p:sp>
      <p:sp>
        <p:nvSpPr>
          <p:cNvPr id="10" name="wsss-denominator">
            <a:extLst xmlns:a="http://schemas.openxmlformats.org/drawingml/2006/main">
              <a:ext uri="{FF2B5EF4-FFF2-40B4-BE49-F238E27FC236}">
                <a16:creationId xmlns:a16="http://schemas.microsoft.com/office/drawing/2014/main" id="{8B1912BF-F83B-4F1A-A0AD-3B0F80A7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813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mIoU across all</a:t>
            </a:r>
          </a:p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40,137 samples</a:t>
            </a:r>
          </a:p>
        </p:txBody>
      </p:sp>
      <p:sp>
        <p:nvSpPr>
          <p:cNvPr id="11" name="wsss-rule">
            <a:extLst xmlns:a="http://schemas.openxmlformats.org/drawingml/2006/main">
              <a:ext uri="{FF2B5EF4-FFF2-40B4-BE49-F238E27FC236}">
                <a16:creationId xmlns:a16="http://schemas.microsoft.com/office/drawing/2014/main" id="{69C1B382-202F-45DA-A747-47ACB905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95725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wsss-gain">
            <a:extLst xmlns:a="http://schemas.openxmlformats.org/drawingml/2006/main">
              <a:ext uri="{FF2B5EF4-FFF2-40B4-BE49-F238E27FC236}">
                <a16:creationId xmlns:a16="http://schemas.microsoft.com/office/drawing/2014/main" id="{9D5C682D-05D3-47B1-9427-5B768D4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624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+1.5 pp</a:t>
            </a:r>
          </a:p>
        </p:txBody>
      </p:sp>
      <p:sp>
        <p:nvSpPr>
          <p:cNvPr id="13" name="wsss-baseline">
            <a:extLst xmlns:a="http://schemas.openxmlformats.org/drawingml/2006/main">
              <a:ext uri="{FF2B5EF4-FFF2-40B4-BE49-F238E27FC236}">
                <a16:creationId xmlns:a16="http://schemas.microsoft.com/office/drawing/2014/main" id="{0B7C80BE-F78C-4A65-9C8E-37A75FD8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720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over WeCLIP+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TPAMI ’25 · 51.8%</a:t>
            </a:r>
          </a:p>
        </p:txBody>
      </p:sp>
      <p:sp>
        <p:nvSpPr>
          <p:cNvPr id="14" name="wsss-copy">
            <a:extLst xmlns:a="http://schemas.openxmlformats.org/drawingml/2006/main">
              <a:ext uri="{FF2B5EF4-FFF2-40B4-BE49-F238E27FC236}">
                <a16:creationId xmlns:a16="http://schemas.microsoft.com/office/drawing/2014/main" id="{C7F4B172-B0E2-4AFF-B587-E12156CC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054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Reliability mapping replaces only pixels where prediction and pseudo-label disagree.</a:t>
            </a:r>
          </a:p>
        </p:txBody>
      </p:sp>
    </p:spTree>
    <p:extLst>
      <p:ext uri="{BB962C8B-B14F-4D97-AF65-F5344CB8AC3E}">
        <p14:creationId xmlns:p14="http://schemas.microsoft.com/office/powerpoint/2010/main" val="3759289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eyebrow-11">
            <a:extLst xmlns:a="http://schemas.openxmlformats.org/drawingml/2006/main">
              <a:ext uri="{FF2B5EF4-FFF2-40B4-BE49-F238E27FC236}">
                <a16:creationId xmlns:a16="http://schemas.microsoft.com/office/drawing/2014/main" id="{536361C2-8592-43F3-9257-3833E73E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PROJECTS · COMPUTER VISION · CALIBRATION · RELIABILITY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77BFC81-87E8-4E5C-89ED-B4E47A16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 | Reliability spans edge pose and calibration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A3A54C56-F6E3-4F88-A35D-B1440B2C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4528F46F-179A-4B9F-B0FD-B29D6302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group-c-divider">
            <a:extLst xmlns:a="http://schemas.openxmlformats.org/drawingml/2006/main">
              <a:ext uri="{FF2B5EF4-FFF2-40B4-BE49-F238E27FC236}">
                <a16:creationId xmlns:a16="http://schemas.microsoft.com/office/drawing/2014/main" id="{C0F229EB-62DE-404B-8A7C-D7358C52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14475"/>
            <a:ext cx="0" cy="452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yshot-title">
            <a:extLst xmlns:a="http://schemas.openxmlformats.org/drawingml/2006/main">
              <a:ext uri="{FF2B5EF4-FFF2-40B4-BE49-F238E27FC236}">
                <a16:creationId xmlns:a16="http://schemas.microsoft.com/office/drawing/2014/main" id="{2FFFB655-CAD9-41C3-A9B4-65B20FB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MyShot</a:t>
            </a:r>
          </a:p>
        </p:txBody>
      </p:sp>
      <p:sp>
        <p:nvSpPr>
          <p:cNvPr id="7" name="myshot-label">
            <a:extLst xmlns:a="http://schemas.openxmlformats.org/drawingml/2006/main">
              <a:ext uri="{FF2B5EF4-FFF2-40B4-BE49-F238E27FC236}">
                <a16:creationId xmlns:a16="http://schemas.microsoft.com/office/drawing/2014/main" id="{8BE08E6F-7DEC-4F70-A08E-773565AD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ON-DEVICE 2D → 3D</a:t>
            </a:r>
          </a:p>
        </p:txBody>
      </p:sp>
      <p:sp>
        <p:nvSpPr>
          <p:cNvPr id="8" name="myshot-arrow-1-line">
            <a:extLst xmlns:a="http://schemas.openxmlformats.org/drawingml/2006/main">
              <a:ext uri="{FF2B5EF4-FFF2-40B4-BE49-F238E27FC236}">
                <a16:creationId xmlns:a16="http://schemas.microsoft.com/office/drawing/2014/main" id="{F2466522-56BB-4602-9D7F-EC23FE24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861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myshot-arrow-1-head">
            <a:extLst xmlns:a="http://schemas.openxmlformats.org/drawingml/2006/main">
              <a:ext uri="{FF2B5EF4-FFF2-40B4-BE49-F238E27FC236}">
                <a16:creationId xmlns:a16="http://schemas.microsoft.com/office/drawing/2014/main" id="{00DE2693-AF0F-4D29-ABCD-0DE8496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38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myshot-arrow-2-line">
            <a:extLst xmlns:a="http://schemas.openxmlformats.org/drawingml/2006/main">
              <a:ext uri="{FF2B5EF4-FFF2-40B4-BE49-F238E27FC236}">
                <a16:creationId xmlns:a16="http://schemas.microsoft.com/office/drawing/2014/main" id="{4A7578B4-D2F8-4C2F-AF00-53535C3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861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myshot-arrow-2-head">
            <a:extLst xmlns:a="http://schemas.openxmlformats.org/drawingml/2006/main">
              <a:ext uri="{FF2B5EF4-FFF2-40B4-BE49-F238E27FC236}">
                <a16:creationId xmlns:a16="http://schemas.microsoft.com/office/drawing/2014/main" id="{B13D5F6B-C07A-4698-9D2D-56454CF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38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myshot-arrow-3-line">
            <a:extLst xmlns:a="http://schemas.openxmlformats.org/drawingml/2006/main">
              <a:ext uri="{FF2B5EF4-FFF2-40B4-BE49-F238E27FC236}">
                <a16:creationId xmlns:a16="http://schemas.microsoft.com/office/drawing/2014/main" id="{D2F26C7D-3F8E-4CF4-8BC9-8BB8DB4E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861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myshot-arrow-3-head">
            <a:extLst xmlns:a="http://schemas.openxmlformats.org/drawingml/2006/main">
              <a:ext uri="{FF2B5EF4-FFF2-40B4-BE49-F238E27FC236}">
                <a16:creationId xmlns:a16="http://schemas.microsoft.com/office/drawing/2014/main" id="{8105F828-9F76-46F8-B34B-F709E3B0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38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myshot-video">
            <a:extLst xmlns:a="http://schemas.openxmlformats.org/drawingml/2006/main">
              <a:ext uri="{FF2B5EF4-FFF2-40B4-BE49-F238E27FC236}">
                <a16:creationId xmlns:a16="http://schemas.microsoft.com/office/drawing/2014/main" id="{B29F9B12-7460-4982-9BD4-01CA690E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95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myshot-video-text">
            <a:extLst xmlns:a="http://schemas.openxmlformats.org/drawingml/2006/main">
              <a:ext uri="{FF2B5EF4-FFF2-40B4-BE49-F238E27FC236}">
                <a16:creationId xmlns:a16="http://schemas.microsoft.com/office/drawing/2014/main" id="{D8F3BB4A-057D-4317-B719-93EC1B39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0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Phone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6" name="myshot-yolo">
            <a:extLst xmlns:a="http://schemas.openxmlformats.org/drawingml/2006/main">
              <a:ext uri="{FF2B5EF4-FFF2-40B4-BE49-F238E27FC236}">
                <a16:creationId xmlns:a16="http://schemas.microsoft.com/office/drawing/2014/main" id="{CDFB3720-1397-4C02-834F-D30E2ABE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86050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myshot-yolo-text">
            <a:extLst xmlns:a="http://schemas.openxmlformats.org/drawingml/2006/main">
              <a:ext uri="{FF2B5EF4-FFF2-40B4-BE49-F238E27FC236}">
                <a16:creationId xmlns:a16="http://schemas.microsoft.com/office/drawing/2014/main" id="{5AC6B123-615C-4F2C-902E-1C5C4580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62250"/>
            <a:ext cx="95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YOLO-Pose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 MB</a:t>
            </a:r>
          </a:p>
        </p:txBody>
      </p:sp>
      <p:sp>
        <p:nvSpPr>
          <p:cNvPr id="18" name="myshot-motion">
            <a:extLst xmlns:a="http://schemas.openxmlformats.org/drawingml/2006/main">
              <a:ext uri="{FF2B5EF4-FFF2-40B4-BE49-F238E27FC236}">
                <a16:creationId xmlns:a16="http://schemas.microsoft.com/office/drawing/2014/main" id="{FB6FA2B3-051B-44F1-9E6A-FE856C4D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6860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myshot-motion-text">
            <a:extLst xmlns:a="http://schemas.openxmlformats.org/drawingml/2006/main">
              <a:ext uri="{FF2B5EF4-FFF2-40B4-BE49-F238E27FC236}">
                <a16:creationId xmlns:a16="http://schemas.microsoft.com/office/drawing/2014/main" id="{878A9D79-9B56-4931-8ABE-782DAE4C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6225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MotionAGFormer-B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11.7M · INT8 ≈12 MB</a:t>
            </a:r>
          </a:p>
        </p:txBody>
      </p:sp>
      <p:sp>
        <p:nvSpPr>
          <p:cNvPr id="20" name="myshot-output">
            <a:extLst xmlns:a="http://schemas.openxmlformats.org/drawingml/2006/main">
              <a:ext uri="{FF2B5EF4-FFF2-40B4-BE49-F238E27FC236}">
                <a16:creationId xmlns:a16="http://schemas.microsoft.com/office/drawing/2014/main" id="{8FFE1539-9A11-4082-A05F-1F10A44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1123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myshot-output-text">
            <a:extLst xmlns:a="http://schemas.openxmlformats.org/drawingml/2006/main">
              <a:ext uri="{FF2B5EF4-FFF2-40B4-BE49-F238E27FC236}">
                <a16:creationId xmlns:a16="http://schemas.microsoft.com/office/drawing/2014/main" id="{6E15F791-11AE-48F0-B943-011AE68C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62250"/>
            <a:ext cx="933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3D swing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X-Factor</a:t>
            </a:r>
          </a:p>
        </p:txBody>
      </p:sp>
      <p:sp>
        <p:nvSpPr>
          <p:cNvPr id="22" name="myshot-mpjpe">
            <a:extLst xmlns:a="http://schemas.openxmlformats.org/drawingml/2006/main">
              <a:ext uri="{FF2B5EF4-FFF2-40B4-BE49-F238E27FC236}">
                <a16:creationId xmlns:a16="http://schemas.microsoft.com/office/drawing/2014/main" id="{6DCFF1A9-AC94-4A1E-81BF-4C2EB00C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338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≈3.5 cm</a:t>
            </a:r>
          </a:p>
        </p:txBody>
      </p:sp>
      <p:sp>
        <p:nvSpPr>
          <p:cNvPr id="23" name="myshot-mpjpe-copy">
            <a:extLst xmlns:a="http://schemas.openxmlformats.org/drawingml/2006/main">
              <a:ext uri="{FF2B5EF4-FFF2-40B4-BE49-F238E27FC236}">
                <a16:creationId xmlns:a16="http://schemas.microsoft.com/office/drawing/2014/main" id="{D1440445-8AD0-42D1-882C-BA80C36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joint-position error</a:t>
            </a:r>
          </a:p>
        </p:txBody>
      </p:sp>
      <p:sp>
        <p:nvSpPr>
          <p:cNvPr id="24" name="myshot-xfactor">
            <a:extLst xmlns:a="http://schemas.openxmlformats.org/drawingml/2006/main">
              <a:ext uri="{FF2B5EF4-FFF2-40B4-BE49-F238E27FC236}">
                <a16:creationId xmlns:a16="http://schemas.microsoft.com/office/drawing/2014/main" id="{E84AB39D-42C7-4149-A0D9-6168F6E3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3.1°</a:t>
            </a:r>
          </a:p>
        </p:txBody>
      </p:sp>
      <p:sp>
        <p:nvSpPr>
          <p:cNvPr id="25" name="myshot-xfactor-copy">
            <a:extLst xmlns:a="http://schemas.openxmlformats.org/drawingml/2006/main">
              <a:ext uri="{FF2B5EF4-FFF2-40B4-BE49-F238E27FC236}">
                <a16:creationId xmlns:a16="http://schemas.microsoft.com/office/drawing/2014/main" id="{8D324F3B-535B-4F06-96D4-FBD8E030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86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X-Factor error</a:t>
            </a:r>
          </a:p>
        </p:txBody>
      </p:sp>
      <p:sp>
        <p:nvSpPr>
          <p:cNvPr id="26" name="myshot-close">
            <a:extLst xmlns:a="http://schemas.openxmlformats.org/drawingml/2006/main">
              <a:ext uri="{FF2B5EF4-FFF2-40B4-BE49-F238E27FC236}">
                <a16:creationId xmlns:a16="http://schemas.microsoft.com/office/drawing/2014/main" id="{15CC00F6-3C6A-47D1-A750-B956A87C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24475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separate server required for the two-stage mobile path.</a:t>
            </a:r>
          </a:p>
        </p:txBody>
      </p:sp>
      <p:sp>
        <p:nvSpPr>
          <p:cNvPr id="27" name="eat-title">
            <a:extLst xmlns:a="http://schemas.openxmlformats.org/drawingml/2006/main">
              <a:ext uri="{FF2B5EF4-FFF2-40B4-BE49-F238E27FC236}">
                <a16:creationId xmlns:a16="http://schemas.microsoft.com/office/drawing/2014/main" id="{343FBE2F-429A-4089-937D-AFD0CBB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81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EAT</a:t>
            </a:r>
          </a:p>
        </p:txBody>
      </p:sp>
      <p:sp>
        <p:nvSpPr>
          <p:cNvPr id="28" name="eat-label">
            <a:extLst xmlns:a="http://schemas.openxmlformats.org/drawingml/2006/main">
              <a:ext uri="{FF2B5EF4-FFF2-40B4-BE49-F238E27FC236}">
                <a16:creationId xmlns:a16="http://schemas.microsoft.com/office/drawing/2014/main" id="{E9F968E4-A930-4E78-8A23-70724E69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57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TRAINING → CALIBRATION</a:t>
            </a:r>
          </a:p>
        </p:txBody>
      </p:sp>
      <p:sp>
        <p:nvSpPr>
          <p:cNvPr id="29" name="eat-arrow-1-line">
            <a:extLst xmlns:a="http://schemas.openxmlformats.org/drawingml/2006/main">
              <a:ext uri="{FF2B5EF4-FFF2-40B4-BE49-F238E27FC236}">
                <a16:creationId xmlns:a16="http://schemas.microsoft.com/office/drawing/2014/main" id="{E309AC0C-D655-45A2-8238-F59D0DC2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861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eat-arrow-1-head">
            <a:extLst xmlns:a="http://schemas.openxmlformats.org/drawingml/2006/main">
              <a:ext uri="{FF2B5EF4-FFF2-40B4-BE49-F238E27FC236}">
                <a16:creationId xmlns:a16="http://schemas.microsoft.com/office/drawing/2014/main" id="{16F297C2-6F98-4166-AEE6-048E172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38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1" name="eat-arrow-2-line">
            <a:extLst xmlns:a="http://schemas.openxmlformats.org/drawingml/2006/main">
              <a:ext uri="{FF2B5EF4-FFF2-40B4-BE49-F238E27FC236}">
                <a16:creationId xmlns:a16="http://schemas.microsoft.com/office/drawing/2014/main" id="{FB761AC0-4606-45D2-BBDC-DF2CD13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861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2" name="eat-arrow-2-head">
            <a:extLst xmlns:a="http://schemas.openxmlformats.org/drawingml/2006/main">
              <a:ext uri="{FF2B5EF4-FFF2-40B4-BE49-F238E27FC236}">
                <a16:creationId xmlns:a16="http://schemas.microsoft.com/office/drawing/2014/main" id="{A0EA127B-C2D5-4CE5-8020-E829A5AC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38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3" name="eat-arrow-3-line">
            <a:extLst xmlns:a="http://schemas.openxmlformats.org/drawingml/2006/main">
              <a:ext uri="{FF2B5EF4-FFF2-40B4-BE49-F238E27FC236}">
                <a16:creationId xmlns:a16="http://schemas.microsoft.com/office/drawing/2014/main" id="{11AFA3FF-C196-4C5B-895C-61C6D2CF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861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4" name="eat-arrow-3-head">
            <a:extLst xmlns:a="http://schemas.openxmlformats.org/drawingml/2006/main">
              <a:ext uri="{FF2B5EF4-FFF2-40B4-BE49-F238E27FC236}">
                <a16:creationId xmlns:a16="http://schemas.microsoft.com/office/drawing/2014/main" id="{E93A6D81-8BBF-4C64-8126-D58EE28D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38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5" name="eat-train">
            <a:extLst xmlns:a="http://schemas.openxmlformats.org/drawingml/2006/main">
              <a:ext uri="{FF2B5EF4-FFF2-40B4-BE49-F238E27FC236}">
                <a16:creationId xmlns:a16="http://schemas.microsoft.com/office/drawing/2014/main" id="{19BEAD58-FD5E-484A-9ECA-069E9E7C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8605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eat-train-text">
            <a:extLst xmlns:a="http://schemas.openxmlformats.org/drawingml/2006/main">
              <a:ext uri="{FF2B5EF4-FFF2-40B4-BE49-F238E27FC236}">
                <a16:creationId xmlns:a16="http://schemas.microsoft.com/office/drawing/2014/main" id="{CF79F2C2-9140-4F55-9180-411162A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6225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Entropy +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adversarial training</a:t>
            </a:r>
          </a:p>
        </p:txBody>
      </p:sp>
      <p:sp>
        <p:nvSpPr>
          <p:cNvPr id="37" name="eat-check">
            <a:extLst xmlns:a="http://schemas.openxmlformats.org/drawingml/2006/main">
              <a:ext uri="{FF2B5EF4-FFF2-40B4-BE49-F238E27FC236}">
                <a16:creationId xmlns:a16="http://schemas.microsoft.com/office/drawing/2014/main" id="{11381BD7-13CF-4183-A82E-B5B179FD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86050"/>
            <a:ext cx="1371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eat-check-text">
            <a:extLst xmlns:a="http://schemas.openxmlformats.org/drawingml/2006/main">
              <a:ext uri="{FF2B5EF4-FFF2-40B4-BE49-F238E27FC236}">
                <a16:creationId xmlns:a16="http://schemas.microsoft.com/office/drawing/2014/main" id="{D60F7DEC-631F-4070-828C-77B93EC5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762250"/>
            <a:ext cx="1181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+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 validation</a:t>
            </a:r>
          </a:p>
        </p:txBody>
      </p:sp>
      <p:sp>
        <p:nvSpPr>
          <p:cNvPr id="39" name="eat-temp">
            <a:extLst xmlns:a="http://schemas.openxmlformats.org/drawingml/2006/main">
              <a:ext uri="{FF2B5EF4-FFF2-40B4-BE49-F238E27FC236}">
                <a16:creationId xmlns:a16="http://schemas.microsoft.com/office/drawing/2014/main" id="{2837A976-34D5-49EB-830C-41ABE9DD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8605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0" name="eat-temp-text">
            <a:extLst xmlns:a="http://schemas.openxmlformats.org/drawingml/2006/main">
              <a:ext uri="{FF2B5EF4-FFF2-40B4-BE49-F238E27FC236}">
                <a16:creationId xmlns:a16="http://schemas.microsoft.com/office/drawing/2014/main" id="{0880A0FD-AFA6-4C60-9FD9-378AC36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6225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scaling</a:t>
            </a:r>
          </a:p>
        </p:txBody>
      </p:sp>
      <p:sp>
        <p:nvSpPr>
          <p:cNvPr id="41" name="eat-output">
            <a:extLst xmlns:a="http://schemas.openxmlformats.org/drawingml/2006/main">
              <a:ext uri="{FF2B5EF4-FFF2-40B4-BE49-F238E27FC236}">
                <a16:creationId xmlns:a16="http://schemas.microsoft.com/office/drawing/2014/main" id="{0D9F07C0-3656-4AB4-991C-42B5A99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860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eat-output-text">
            <a:extLst xmlns:a="http://schemas.openxmlformats.org/drawingml/2006/main">
              <a:ext uri="{FF2B5EF4-FFF2-40B4-BE49-F238E27FC236}">
                <a16:creationId xmlns:a16="http://schemas.microsoft.com/office/drawing/2014/main" id="{3E778D81-B886-4BE9-9E23-E616A33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62250"/>
            <a:ext cx="97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Calibrated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43" name="eat-f1">
            <a:extLst xmlns:a="http://schemas.openxmlformats.org/drawingml/2006/main">
              <a:ext uri="{FF2B5EF4-FFF2-40B4-BE49-F238E27FC236}">
                <a16:creationId xmlns:a16="http://schemas.microsoft.com/office/drawing/2014/main" id="{BE43D92E-831C-4F1B-B6FB-34D7CEFE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0.860</a:t>
            </a:r>
          </a:p>
        </p:txBody>
      </p:sp>
      <p:sp>
        <p:nvSpPr>
          <p:cNvPr id="44" name="eat-f1-copy">
            <a:extLst xmlns:a="http://schemas.openxmlformats.org/drawingml/2006/main">
              <a:ext uri="{FF2B5EF4-FFF2-40B4-BE49-F238E27FC236}">
                <a16:creationId xmlns:a16="http://schemas.microsoft.com/office/drawing/2014/main" id="{F9444B59-CC28-4A0E-9EA7-CF1FF941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00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ISIC 2017 F1</a:t>
            </a:r>
          </a:p>
        </p:txBody>
      </p:sp>
      <p:sp>
        <p:nvSpPr>
          <p:cNvPr id="45" name="eat-ece">
            <a:extLst xmlns:a="http://schemas.openxmlformats.org/drawingml/2006/main">
              <a:ext uri="{FF2B5EF4-FFF2-40B4-BE49-F238E27FC236}">
                <a16:creationId xmlns:a16="http://schemas.microsoft.com/office/drawing/2014/main" id="{A3A004FA-BF03-47D5-8F55-7E1F967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038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1.1%</a:t>
            </a:r>
          </a:p>
        </p:txBody>
      </p:sp>
      <p:sp>
        <p:nvSpPr>
          <p:cNvPr id="46" name="eat-ece-copy">
            <a:extLst xmlns:a="http://schemas.openxmlformats.org/drawingml/2006/main">
              <a:ext uri="{FF2B5EF4-FFF2-40B4-BE49-F238E27FC236}">
                <a16:creationId xmlns:a16="http://schemas.microsoft.com/office/drawing/2014/main" id="{5F070E30-5AD6-4B8A-BB82-C027AD71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00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best ECE</a:t>
            </a:r>
          </a:p>
        </p:txBody>
      </p:sp>
      <p:sp>
        <p:nvSpPr>
          <p:cNvPr id="47" name="eat-baseline">
            <a:extLst xmlns:a="http://schemas.openxmlformats.org/drawingml/2006/main">
              <a:ext uri="{FF2B5EF4-FFF2-40B4-BE49-F238E27FC236}">
                <a16:creationId xmlns:a16="http://schemas.microsoft.com/office/drawing/2014/main" id="{13AE5C0B-1CB9-4240-B83D-E72CA8BC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958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CR-SAM baseline: F1 0.85 · ECE 1.7%</a:t>
            </a:r>
          </a:p>
        </p:txBody>
      </p:sp>
      <p:sp>
        <p:nvSpPr>
          <p:cNvPr id="48" name="eat-cifar">
            <a:extLst xmlns:a="http://schemas.openxmlformats.org/drawingml/2006/main">
              <a:ext uri="{FF2B5EF4-FFF2-40B4-BE49-F238E27FC236}">
                <a16:creationId xmlns:a16="http://schemas.microsoft.com/office/drawing/2014/main" id="{383A4691-E115-4D5A-8A48-4665FE15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340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CIFAR-100: 81.23% accuracy · 3.37% ECE after temperature scaling</a:t>
            </a:r>
          </a:p>
        </p:txBody>
      </p:sp>
    </p:spTree>
    <p:extLst>
      <p:ext uri="{BB962C8B-B14F-4D97-AF65-F5344CB8AC3E}">
        <p14:creationId xmlns:p14="http://schemas.microsoft.com/office/powerpoint/2010/main" val="2808287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12">
            <a:extLst xmlns:a="http://schemas.openxmlformats.org/drawingml/2006/main">
              <a:ext uri="{FF2B5EF4-FFF2-40B4-BE49-F238E27FC236}">
                <a16:creationId xmlns:a16="http://schemas.microsoft.com/office/drawing/2014/main" id="{13CFD8E6-A237-4B94-8F87-4011ACC4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HARIM CHOI | APPLIED ML SYSTEMS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D4DFED7-B437-4305-8418-8A7B378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stack follows the decision path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4E453A66-F369-4877-89D0-9268842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C1F66F0A-7ACC-43F6-83DD-0DFB331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tack-num-0">
            <a:extLst xmlns:a="http://schemas.openxmlformats.org/drawingml/2006/main">
              <a:ext uri="{FF2B5EF4-FFF2-40B4-BE49-F238E27FC236}">
                <a16:creationId xmlns:a16="http://schemas.microsoft.com/office/drawing/2014/main" id="{AFDB263E-6F9F-48E7-8973-9F32059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ack-head-0">
            <a:extLst xmlns:a="http://schemas.openxmlformats.org/drawingml/2006/main">
              <a:ext uri="{FF2B5EF4-FFF2-40B4-BE49-F238E27FC236}">
                <a16:creationId xmlns:a16="http://schemas.microsoft.com/office/drawing/2014/main" id="{A3289E34-FE2C-442E-A475-7C5367D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Languages</a:t>
            </a:r>
          </a:p>
        </p:txBody>
      </p:sp>
      <p:sp>
        <p:nvSpPr>
          <p:cNvPr id="7" name="stack-tools-0">
            <a:extLst xmlns:a="http://schemas.openxmlformats.org/drawingml/2006/main">
              <a:ext uri="{FF2B5EF4-FFF2-40B4-BE49-F238E27FC236}">
                <a16:creationId xmlns:a16="http://schemas.microsoft.com/office/drawing/2014/main" id="{5BF2E732-0F08-45E2-B0B5-80C2313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6210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Python · SQL · TypeScript · R · JavaScript / Node.js</a:t>
            </a:r>
          </a:p>
        </p:txBody>
      </p:sp>
      <p:sp>
        <p:nvSpPr>
          <p:cNvPr id="8" name="stack-rule-1">
            <a:extLst xmlns:a="http://schemas.openxmlformats.org/drawingml/2006/main">
              <a:ext uri="{FF2B5EF4-FFF2-40B4-BE49-F238E27FC236}">
                <a16:creationId xmlns:a16="http://schemas.microsoft.com/office/drawing/2014/main" id="{31077465-4625-4089-AE3D-3853373E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ack-num-1">
            <a:extLst xmlns:a="http://schemas.openxmlformats.org/drawingml/2006/main">
              <a:ext uri="{FF2B5EF4-FFF2-40B4-BE49-F238E27FC236}">
                <a16:creationId xmlns:a16="http://schemas.microsoft.com/office/drawing/2014/main" id="{AAEFDA48-6EBA-40C3-9C73-AC4B2284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05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tack-head-1">
            <a:extLst xmlns:a="http://schemas.openxmlformats.org/drawingml/2006/main">
              <a:ext uri="{FF2B5EF4-FFF2-40B4-BE49-F238E27FC236}">
                <a16:creationId xmlns:a16="http://schemas.microsoft.com/office/drawing/2014/main" id="{EDAC2216-6DB5-42E9-B391-CBB48B17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11" name="stack-tools-1">
            <a:extLst xmlns:a="http://schemas.openxmlformats.org/drawingml/2006/main">
              <a:ext uri="{FF2B5EF4-FFF2-40B4-BE49-F238E27FC236}">
                <a16:creationId xmlns:a16="http://schemas.microsoft.com/office/drawing/2014/main" id="{8000A74D-63C0-438A-9298-2DE79305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0505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PyTorch · scikit-learn · Hugging Face · PFN / ICL · NLP · CV · RL</a:t>
            </a:r>
          </a:p>
        </p:txBody>
      </p:sp>
      <p:sp>
        <p:nvSpPr>
          <p:cNvPr id="12" name="stack-rule-2">
            <a:extLst xmlns:a="http://schemas.openxmlformats.org/drawingml/2006/main">
              <a:ext uri="{FF2B5EF4-FFF2-40B4-BE49-F238E27FC236}">
                <a16:creationId xmlns:a16="http://schemas.microsoft.com/office/drawing/2014/main" id="{1A0403D0-2223-40C1-AA22-9CF4752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3370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ck-num-2">
            <a:extLst xmlns:a="http://schemas.openxmlformats.org/drawingml/2006/main">
              <a:ext uri="{FF2B5EF4-FFF2-40B4-BE49-F238E27FC236}">
                <a16:creationId xmlns:a16="http://schemas.microsoft.com/office/drawing/2014/main" id="{CF949EC0-F501-44F8-8E62-6555AA2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tack-head-2">
            <a:extLst xmlns:a="http://schemas.openxmlformats.org/drawingml/2006/main">
              <a:ext uri="{FF2B5EF4-FFF2-40B4-BE49-F238E27FC236}">
                <a16:creationId xmlns:a16="http://schemas.microsoft.com/office/drawing/2014/main" id="{ADC2E07D-EE07-4705-B956-CF7E3EA6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+ retrieval</a:t>
            </a:r>
          </a:p>
        </p:txBody>
      </p:sp>
      <p:sp>
        <p:nvSpPr>
          <p:cNvPr id="15" name="stack-tools-2">
            <a:extLst xmlns:a="http://schemas.openxmlformats.org/drawingml/2006/main">
              <a:ext uri="{FF2B5EF4-FFF2-40B4-BE49-F238E27FC236}">
                <a16:creationId xmlns:a16="http://schemas.microsoft.com/office/drawing/2014/main" id="{3B8BB7F0-9EA2-479E-BA80-B954C768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4800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MCP · LangGraph · LangChain · RAG · FAISS · custom vector index · HITL</a:t>
            </a:r>
          </a:p>
        </p:txBody>
      </p:sp>
      <p:sp>
        <p:nvSpPr>
          <p:cNvPr id="16" name="stack-rule-3">
            <a:extLst xmlns:a="http://schemas.openxmlformats.org/drawingml/2006/main">
              <a:ext uri="{FF2B5EF4-FFF2-40B4-BE49-F238E27FC236}">
                <a16:creationId xmlns:a16="http://schemas.microsoft.com/office/drawing/2014/main" id="{EDF62780-2531-4EF5-BB72-FCBD9874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ack-num-3">
            <a:extLst xmlns:a="http://schemas.openxmlformats.org/drawingml/2006/main">
              <a:ext uri="{FF2B5EF4-FFF2-40B4-BE49-F238E27FC236}">
                <a16:creationId xmlns:a16="http://schemas.microsoft.com/office/drawing/2014/main" id="{552FFA9A-9AD1-4AF8-84FB-3CE6A751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stack-head-3">
            <a:extLst xmlns:a="http://schemas.openxmlformats.org/drawingml/2006/main">
              <a:ext uri="{FF2B5EF4-FFF2-40B4-BE49-F238E27FC236}">
                <a16:creationId xmlns:a16="http://schemas.microsoft.com/office/drawing/2014/main" id="{C8174823-8C99-45B7-A5A4-62F2FECA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+ training</a:t>
            </a:r>
          </a:p>
        </p:txBody>
      </p:sp>
      <p:sp>
        <p:nvSpPr>
          <p:cNvPr id="19" name="stack-tools-3">
            <a:extLst xmlns:a="http://schemas.openxmlformats.org/drawingml/2006/main">
              <a:ext uri="{FF2B5EF4-FFF2-40B4-BE49-F238E27FC236}">
                <a16:creationId xmlns:a16="http://schemas.microsoft.com/office/drawing/2014/main" id="{E43ED688-E055-4382-807B-E01C88A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9095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Weak / semi-supervised learning · pseudo-labeling · curation · leakage audit · domain shift</a:t>
            </a:r>
          </a:p>
        </p:txBody>
      </p:sp>
      <p:sp>
        <p:nvSpPr>
          <p:cNvPr id="20" name="stack-rule-4">
            <a:extLst xmlns:a="http://schemas.openxmlformats.org/drawingml/2006/main">
              <a:ext uri="{FF2B5EF4-FFF2-40B4-BE49-F238E27FC236}">
                <a16:creationId xmlns:a16="http://schemas.microsoft.com/office/drawing/2014/main" id="{C86DEF73-B361-47F4-AC2B-DE3E812E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ack-num-4">
            <a:extLst xmlns:a="http://schemas.openxmlformats.org/drawingml/2006/main">
              <a:ext uri="{FF2B5EF4-FFF2-40B4-BE49-F238E27FC236}">
                <a16:creationId xmlns:a16="http://schemas.microsoft.com/office/drawing/2014/main" id="{B929734B-9764-48AD-A52A-747EDD25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339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stack-head-4">
            <a:extLst xmlns:a="http://schemas.openxmlformats.org/drawingml/2006/main">
              <a:ext uri="{FF2B5EF4-FFF2-40B4-BE49-F238E27FC236}">
                <a16:creationId xmlns:a16="http://schemas.microsoft.com/office/drawing/2014/main" id="{4BFFFC6F-D527-4A92-9087-A43BAFCC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3" name="stack-tools-4">
            <a:extLst xmlns:a="http://schemas.openxmlformats.org/drawingml/2006/main">
              <a:ext uri="{FF2B5EF4-FFF2-40B4-BE49-F238E27FC236}">
                <a16:creationId xmlns:a16="http://schemas.microsoft.com/office/drawing/2014/main" id="{836E555A-3999-4F65-B6CF-B3C90E7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3390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Calibration · conformal prediction · uncertainty quantification · CRPS · Monte Carlo · ablation</a:t>
            </a:r>
          </a:p>
        </p:txBody>
      </p:sp>
      <p:sp>
        <p:nvSpPr>
          <p:cNvPr id="24" name="stack-rule-5">
            <a:extLst xmlns:a="http://schemas.openxmlformats.org/drawingml/2006/main">
              <a:ext uri="{FF2B5EF4-FFF2-40B4-BE49-F238E27FC236}">
                <a16:creationId xmlns:a16="http://schemas.microsoft.com/office/drawing/2014/main" id="{6A82A8FC-EF19-4C65-8A8A-D36AFE6E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tack-num-5">
            <a:extLst xmlns:a="http://schemas.openxmlformats.org/drawingml/2006/main">
              <a:ext uri="{FF2B5EF4-FFF2-40B4-BE49-F238E27FC236}">
                <a16:creationId xmlns:a16="http://schemas.microsoft.com/office/drawing/2014/main" id="{0F14BEC4-F5D3-48D0-810A-859FFDEE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768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stack-head-5">
            <a:extLst xmlns:a="http://schemas.openxmlformats.org/drawingml/2006/main">
              <a:ext uri="{FF2B5EF4-FFF2-40B4-BE49-F238E27FC236}">
                <a16:creationId xmlns:a16="http://schemas.microsoft.com/office/drawing/2014/main" id="{6E345330-4D17-4462-8A05-21CB98F9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27" name="stack-tools-5">
            <a:extLst xmlns:a="http://schemas.openxmlformats.org/drawingml/2006/main">
              <a:ext uri="{FF2B5EF4-FFF2-40B4-BE49-F238E27FC236}">
                <a16:creationId xmlns:a16="http://schemas.microsoft.com/office/drawing/2014/main" id="{3630896D-EE73-4B60-A3EF-CC2F5B0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27685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Airflow · GPU orchestration · ONNX / quantization · FastAPI · Docker · Kubernetes · AWS / GCP</a:t>
            </a:r>
          </a:p>
        </p:txBody>
      </p:sp>
    </p:spTree>
    <p:extLst>
      <p:ext uri="{BB962C8B-B14F-4D97-AF65-F5344CB8AC3E}">
        <p14:creationId xmlns:p14="http://schemas.microsoft.com/office/powerpoint/2010/main" val="18863567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3">
            <a:extLst xmlns:a="http://schemas.openxmlformats.org/drawingml/2006/main">
              <a:ext uri="{FF2B5EF4-FFF2-40B4-BE49-F238E27FC236}">
                <a16:creationId xmlns:a16="http://schemas.microsoft.com/office/drawing/2014/main" id="{F03B1D09-7CAF-4580-8F69-BAE99AC2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HARIM CHOI | APPLIED ML SYSTEMS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D84ACED-924C-4BA2-8A9F-6B2ADB6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Best fit where models must survive real constraints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064B58A8-F505-4670-84A5-DA26EAB1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0F9D2808-F8AD-456A-9A44-C3389ECC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531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it-v-rule">
            <a:extLst xmlns:a="http://schemas.openxmlformats.org/drawingml/2006/main">
              <a:ext uri="{FF2B5EF4-FFF2-40B4-BE49-F238E27FC236}">
                <a16:creationId xmlns:a16="http://schemas.microsoft.com/office/drawing/2014/main" id="{A6E6D2DF-145E-4B15-A0FD-54ABD9BE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fit-h-rule">
            <a:extLst xmlns:a="http://schemas.openxmlformats.org/drawingml/2006/main">
              <a:ext uri="{FF2B5EF4-FFF2-40B4-BE49-F238E27FC236}">
                <a16:creationId xmlns:a16="http://schemas.microsoft.com/office/drawing/2014/main" id="{59D22841-7510-4547-A8A1-BE127273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05225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it-num-0">
            <a:extLst xmlns:a="http://schemas.openxmlformats.org/drawingml/2006/main">
              <a:ext uri="{FF2B5EF4-FFF2-40B4-BE49-F238E27FC236}">
                <a16:creationId xmlns:a16="http://schemas.microsoft.com/office/drawing/2014/main" id="{198DDB61-F97B-4E50-ABBC-34A2299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fit-head-0">
            <a:extLst xmlns:a="http://schemas.openxmlformats.org/drawingml/2006/main">
              <a:ext uri="{FF2B5EF4-FFF2-40B4-BE49-F238E27FC236}">
                <a16:creationId xmlns:a16="http://schemas.microsoft.com/office/drawing/2014/main" id="{6821063E-265E-48F3-BA3E-3BA45F47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669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Production probabilistic ML</a:t>
            </a:r>
          </a:p>
        </p:txBody>
      </p:sp>
      <p:sp>
        <p:nvSpPr>
          <p:cNvPr id="9" name="fit-body-0">
            <a:extLst xmlns:a="http://schemas.openxmlformats.org/drawingml/2006/main">
              <a:ext uri="{FF2B5EF4-FFF2-40B4-BE49-F238E27FC236}">
                <a16:creationId xmlns:a16="http://schemas.microsoft.com/office/drawing/2014/main" id="{E395DEA8-2C74-4B20-B129-93E1ADC9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Distributional prediction, simulation, calibration, and KPI harnesses tied to operating decisions.</a:t>
            </a:r>
          </a:p>
        </p:txBody>
      </p:sp>
      <p:sp>
        <p:nvSpPr>
          <p:cNvPr id="10" name="fit-num-1">
            <a:extLst xmlns:a="http://schemas.openxmlformats.org/drawingml/2006/main">
              <a:ext uri="{FF2B5EF4-FFF2-40B4-BE49-F238E27FC236}">
                <a16:creationId xmlns:a16="http://schemas.microsoft.com/office/drawing/2014/main" id="{E7E1CC0C-8000-404F-98D0-8B407F9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95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fit-head-1">
            <a:extLst xmlns:a="http://schemas.openxmlformats.org/drawingml/2006/main">
              <a:ext uri="{FF2B5EF4-FFF2-40B4-BE49-F238E27FC236}">
                <a16:creationId xmlns:a16="http://schemas.microsoft.com/office/drawing/2014/main" id="{719AB57C-8FA0-4C4B-88A3-3510DE25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669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+ retrieval infrastructure</a:t>
            </a:r>
          </a:p>
        </p:txBody>
      </p:sp>
      <p:sp>
        <p:nvSpPr>
          <p:cNvPr id="12" name="fit-body-1">
            <a:extLst xmlns:a="http://schemas.openxmlformats.org/drawingml/2006/main">
              <a:ext uri="{FF2B5EF4-FFF2-40B4-BE49-F238E27FC236}">
                <a16:creationId xmlns:a16="http://schemas.microsoft.com/office/drawing/2014/main" id="{F563037E-5AD9-4998-BCCA-2C7D437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98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MCP, RAG, stateful workflows, scoped actions, approval gates, and recovery paths.</a:t>
            </a:r>
          </a:p>
        </p:txBody>
      </p:sp>
      <p:sp>
        <p:nvSpPr>
          <p:cNvPr id="13" name="fit-num-2">
            <a:extLst xmlns:a="http://schemas.openxmlformats.org/drawingml/2006/main">
              <a:ext uri="{FF2B5EF4-FFF2-40B4-BE49-F238E27FC236}">
                <a16:creationId xmlns:a16="http://schemas.microsoft.com/office/drawing/2014/main" id="{7E08CC02-7D45-4106-AEDC-7EBA3D9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fit-head-2">
            <a:extLst xmlns:a="http://schemas.openxmlformats.org/drawingml/2006/main">
              <a:ext uri="{FF2B5EF4-FFF2-40B4-BE49-F238E27FC236}">
                <a16:creationId xmlns:a16="http://schemas.microsoft.com/office/drawing/2014/main" id="{188DB0FE-C809-4C89-A2AF-C7A1A24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719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Reliable CV and calibration</a:t>
            </a:r>
          </a:p>
        </p:txBody>
      </p:sp>
      <p:sp>
        <p:nvSpPr>
          <p:cNvPr id="15" name="fit-body-2">
            <a:extLst xmlns:a="http://schemas.openxmlformats.org/drawingml/2006/main">
              <a:ext uri="{FF2B5EF4-FFF2-40B4-BE49-F238E27FC236}">
                <a16:creationId xmlns:a16="http://schemas.microsoft.com/office/drawing/2014/main" id="{A5D54F2C-C869-46AF-B0C5-4131B94C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149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Weak supervision, pseudo-label refinement, 3D pose, ECE, domain-shift and leakage audits.</a:t>
            </a:r>
          </a:p>
        </p:txBody>
      </p:sp>
      <p:sp>
        <p:nvSpPr>
          <p:cNvPr id="16" name="fit-num-3">
            <a:extLst xmlns:a="http://schemas.openxmlformats.org/drawingml/2006/main">
              <a:ext uri="{FF2B5EF4-FFF2-40B4-BE49-F238E27FC236}">
                <a16:creationId xmlns:a16="http://schemas.microsoft.com/office/drawing/2014/main" id="{90075FE3-9A7B-4A76-9820-EE626C49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00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fit-head-3">
            <a:extLst xmlns:a="http://schemas.openxmlformats.org/drawingml/2006/main">
              <a:ext uri="{FF2B5EF4-FFF2-40B4-BE49-F238E27FC236}">
                <a16:creationId xmlns:a16="http://schemas.microsoft.com/office/drawing/2014/main" id="{FB870418-FFFF-4909-B4A3-2F4DD073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719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End-to-end technical ownership</a:t>
            </a:r>
          </a:p>
        </p:txBody>
      </p:sp>
      <p:sp>
        <p:nvSpPr>
          <p:cNvPr id="18" name="fit-body-3">
            <a:extLst xmlns:a="http://schemas.openxmlformats.org/drawingml/2006/main">
              <a:ext uri="{FF2B5EF4-FFF2-40B4-BE49-F238E27FC236}">
                <a16:creationId xmlns:a16="http://schemas.microsoft.com/office/drawing/2014/main" id="{80FE61B4-7928-4EF4-B94B-8C529A1A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149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Data collection, OCR, training, evaluation, APIs, batch operations, deployment, and user support.</a:t>
            </a:r>
          </a:p>
        </p:txBody>
      </p:sp>
      <p:sp>
        <p:nvSpPr>
          <p:cNvPr id="19" name="fit-close">
            <a:extLst xmlns:a="http://schemas.openxmlformats.org/drawingml/2006/main">
              <a:ext uri="{FF2B5EF4-FFF2-40B4-BE49-F238E27FC236}">
                <a16:creationId xmlns:a16="http://schemas.microsoft.com/office/drawing/2014/main" id="{615316F9-D88F-4046-ACDB-1F404D23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useful question is not whether a model can score well, but whether its signal remains trustworthy when the system acts.</a:t>
            </a:r>
          </a:p>
        </p:txBody>
      </p:sp>
    </p:spTree>
    <p:extLst>
      <p:ext uri="{BB962C8B-B14F-4D97-AF65-F5344CB8AC3E}">
        <p14:creationId xmlns:p14="http://schemas.microsoft.com/office/powerpoint/2010/main" val="1234574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91CBA92B-38F6-495C-B1D4-A2FA4D6C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2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5E9450FD-27FD-4C13-83CC-3DC11A2D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0525"/>
            <a:ext cx="2124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CF99F79-C08E-4D65-897E-A6865673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24025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reliable systems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 real constraints.</a:t>
            </a:r>
          </a:p>
        </p:txBody>
      </p:sp>
      <p:sp>
        <p:nvSpPr>
          <p:cNvPr id="4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AE1415E2-3ACC-4883-9BF6-604DBE89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56F"/>
                </a:solidFill>
                <a:latin typeface="Arial"/>
                <a:ea typeface="Arial"/>
                <a:cs typeface="Arial"/>
              </a:rPr>
              <a:t>Open conversation: where could evaluation hide failure in your decision path?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AE3FA0E6-67E6-45A7-8AF4-C3529C0C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0540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ntact-head-0">
            <a:extLst xmlns:a="http://schemas.openxmlformats.org/drawingml/2006/main">
              <a:ext uri="{FF2B5EF4-FFF2-40B4-BE49-F238E27FC236}">
                <a16:creationId xmlns:a16="http://schemas.microsoft.com/office/drawing/2014/main" id="{A9667B45-72A4-40F9-85CA-B72628D8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7" name="contact-value-0">
            <a:extLst xmlns:a="http://schemas.openxmlformats.org/drawingml/2006/main">
              <a:ext uri="{FF2B5EF4-FFF2-40B4-BE49-F238E27FC236}">
                <a16:creationId xmlns:a16="http://schemas.microsoft.com/office/drawing/2014/main" id="{2D4B0B39-807B-4164-A30C-FD9519D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054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2.harim.choi@gmail.com</a:t>
            </a:r>
          </a:p>
        </p:txBody>
      </p:sp>
      <p:sp>
        <p:nvSpPr>
          <p:cNvPr id="8" name="contact-head-1">
            <a:extLst xmlns:a="http://schemas.openxmlformats.org/drawingml/2006/main">
              <a:ext uri="{FF2B5EF4-FFF2-40B4-BE49-F238E27FC236}">
                <a16:creationId xmlns:a16="http://schemas.microsoft.com/office/drawing/2014/main" id="{2FED3768-FC00-4501-B257-7F16AC54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contact-value-1">
            <a:extLst xmlns:a="http://schemas.openxmlformats.org/drawingml/2006/main">
              <a:ext uri="{FF2B5EF4-FFF2-40B4-BE49-F238E27FC236}">
                <a16:creationId xmlns:a16="http://schemas.microsoft.com/office/drawing/2014/main" id="{60222497-650E-47E6-979F-5597CF99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054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github.com/HarimxChoi</a:t>
            </a:r>
          </a:p>
        </p:txBody>
      </p:sp>
      <p:sp>
        <p:nvSpPr>
          <p:cNvPr id="10" name="contact-head-2">
            <a:extLst xmlns:a="http://schemas.openxmlformats.org/drawingml/2006/main">
              <a:ext uri="{FF2B5EF4-FFF2-40B4-BE49-F238E27FC236}">
                <a16:creationId xmlns:a16="http://schemas.microsoft.com/office/drawing/2014/main" id="{FD5DD5B8-0968-4570-A857-5469BB13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11" name="contact-value-2">
            <a:extLst xmlns:a="http://schemas.openxmlformats.org/drawingml/2006/main">
              <a:ext uri="{FF2B5EF4-FFF2-40B4-BE49-F238E27FC236}">
                <a16:creationId xmlns:a16="http://schemas.microsoft.com/office/drawing/2014/main" id="{24A91102-BDB3-4F47-B01E-C05C5912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7054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harimxchoi.github.io</a:t>
            </a:r>
          </a:p>
        </p:txBody>
      </p:sp>
      <p:sp>
        <p:nvSpPr>
          <p:cNvPr id="12" name="contact-head-3">
            <a:extLst xmlns:a="http://schemas.openxmlformats.org/drawingml/2006/main">
              <a:ext uri="{FF2B5EF4-FFF2-40B4-BE49-F238E27FC236}">
                <a16:creationId xmlns:a16="http://schemas.microsoft.com/office/drawing/2014/main" id="{75188A6C-F57C-4ABE-ACC6-4103B83A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65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56F"/>
                </a:solidFill>
                <a:latin typeface="Arial"/>
                <a:ea typeface="Arial"/>
                <a:cs typeface="Arial"/>
              </a:rPr>
              <a:t>LINKEDIN</a:t>
            </a:r>
          </a:p>
        </p:txBody>
      </p:sp>
      <p:sp>
        <p:nvSpPr>
          <p:cNvPr id="13" name="contact-value-3">
            <a:extLst xmlns:a="http://schemas.openxmlformats.org/drawingml/2006/main">
              <a:ext uri="{FF2B5EF4-FFF2-40B4-BE49-F238E27FC236}">
                <a16:creationId xmlns:a16="http://schemas.microsoft.com/office/drawing/2014/main" id="{9BF4707A-3322-4AB7-A6D0-C437A6E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7054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linkedin.com/in/harimxchoi</a:t>
            </a:r>
          </a:p>
        </p:txBody>
      </p:sp>
    </p:spTree>
    <p:extLst>
      <p:ext uri="{BB962C8B-B14F-4D97-AF65-F5344CB8AC3E}">
        <p14:creationId xmlns:p14="http://schemas.microsoft.com/office/powerpoint/2010/main" val="549028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2026-08-11T20:28:18.8790000Z</dcterms:created>
  <dcterms:modified xsi:type="dcterms:W3CDTF">2026-08-11T20:28:18.8790000Z</dcterms:modified>
</coreProperties>
</file>